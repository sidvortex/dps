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Glacial Indifference Bold" charset="1" panose="00000800000000000000"/>
      <p:regular r:id="rId18"/>
    </p:embeddedFont>
    <p:embeddedFont>
      <p:font typeface="Exo 2" charset="1" panose="00000500000000000000"/>
      <p:regular r:id="rId19"/>
    </p:embeddedFont>
    <p:embeddedFont>
      <p:font typeface="Glacial Indifference" charset="1" panose="00000000000000000000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Montserrat Ultra-Bold" charset="1" panose="00000900000000000000"/>
      <p:regular r:id="rId23"/>
    </p:embeddedFont>
    <p:embeddedFont>
      <p:font typeface="Calibri (MS) Italics" charset="1" panose="020F05020202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jpe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jpe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jpe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8.jpe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jpe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jpe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jpe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484164" y="8648299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610001"/>
                </a:moveTo>
                <a:lnTo>
                  <a:pt x="1775136" y="610001"/>
                </a:lnTo>
                <a:lnTo>
                  <a:pt x="1775136" y="0"/>
                </a:lnTo>
                <a:lnTo>
                  <a:pt x="0" y="0"/>
                </a:lnTo>
                <a:lnTo>
                  <a:pt x="0" y="6100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4447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4164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718283" y="0"/>
                </a:lnTo>
                <a:lnTo>
                  <a:pt x="371828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190682"/>
            <a:ext cx="1067618" cy="1067618"/>
          </a:xfrm>
          <a:custGeom>
            <a:avLst/>
            <a:gdLst/>
            <a:ahLst/>
            <a:cxnLst/>
            <a:rect r="r" b="b" t="t" l="l"/>
            <a:pathLst>
              <a:path h="1067618" w="1067618">
                <a:moveTo>
                  <a:pt x="0" y="0"/>
                </a:moveTo>
                <a:lnTo>
                  <a:pt x="1067618" y="0"/>
                </a:lnTo>
                <a:lnTo>
                  <a:pt x="1067618" y="1067618"/>
                </a:lnTo>
                <a:lnTo>
                  <a:pt x="0" y="10676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0903" y="979860"/>
            <a:ext cx="8835909" cy="274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4"/>
              </a:lnSpc>
            </a:pPr>
            <a:r>
              <a:rPr lang="en-US" sz="16032" b="true">
                <a:solidFill>
                  <a:srgbClr val="463F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8004" y="3557728"/>
            <a:ext cx="10784747" cy="572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>
                <a:solidFill>
                  <a:srgbClr val="463F3A"/>
                </a:solidFill>
                <a:latin typeface="Canva Sans"/>
                <a:ea typeface="Canva Sans"/>
                <a:cs typeface="Canva Sans"/>
                <a:sym typeface="Canva Sans"/>
              </a:rPr>
              <a:t>DIAG</a:t>
            </a:r>
            <a:r>
              <a:rPr lang="en-US" sz="3334">
                <a:solidFill>
                  <a:srgbClr val="463F3A"/>
                </a:solidFill>
                <a:latin typeface="Canva Sans"/>
                <a:ea typeface="Canva Sans"/>
                <a:cs typeface="Canva Sans"/>
                <a:sym typeface="Canva Sans"/>
              </a:rPr>
              <a:t>NOSTIC PREDICTION SUITE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2104" y="907006"/>
            <a:ext cx="8271896" cy="24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b="true" sz="1740" spc="19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MAHARISHI UNIVERSITY OF INFORMATION</a:t>
            </a:r>
            <a:r>
              <a:rPr lang="en-US" b="true" sz="1740" spc="19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TECHNOLOGY · NOIDA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694" y="4387175"/>
            <a:ext cx="4403910" cy="57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37" spc="4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Machine</a:t>
            </a:r>
            <a:r>
              <a:rPr lang="en-US" sz="1237" spc="4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 Learning Powered Risk Screening for</a:t>
            </a:r>
          </a:p>
          <a:p>
            <a:pPr algn="l">
              <a:lnSpc>
                <a:spcPts val="1522"/>
              </a:lnSpc>
            </a:pPr>
            <a:r>
              <a:rPr lang="en-US" sz="1237" spc="4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Diabetes &amp; Cardiovascular Disease</a:t>
            </a:r>
          </a:p>
          <a:p>
            <a:pPr algn="l">
              <a:lnSpc>
                <a:spcPts val="152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4694" y="5808065"/>
            <a:ext cx="5869393" cy="113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b="true" sz="165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Ravada Siddharth · Arpit Kumar · Kanak Sharma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B.Tech CSE with Data Science | 6th Semester | Bat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 2023–27</a:t>
            </a:r>
          </a:p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Minor Proj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ct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· Ac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demic Ye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 2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26</a:t>
            </a:r>
            <a:r>
              <a:rPr lang="en-US" sz="16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–27</a:t>
            </a:r>
          </a:p>
          <a:p>
            <a:pPr algn="l">
              <a:lnSpc>
                <a:spcPts val="227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4694" y="7173512"/>
            <a:ext cx="7117102" cy="64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540" spc="1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UNDER THE </a:t>
            </a:r>
            <a:r>
              <a:rPr lang="en-US" b="true" sz="1540" spc="1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SUPERVISION OF DR. KUSUM LATA MAM</a:t>
            </a:r>
          </a:p>
          <a:p>
            <a:pPr algn="l">
              <a:lnSpc>
                <a:spcPts val="1678"/>
              </a:lnSpc>
            </a:pPr>
            <a:r>
              <a:rPr lang="en-US" b="true" sz="1540" spc="17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DEPT. OF DATA SCIENCE AND ARTIFICIAL INTELLIGENCE</a:t>
            </a:r>
          </a:p>
          <a:p>
            <a:pPr algn="l">
              <a:lnSpc>
                <a:spcPts val="1678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526812" y="1627290"/>
            <a:ext cx="6442588" cy="6779998"/>
            <a:chOff x="0" y="0"/>
            <a:chExt cx="8590117" cy="903999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32358" cy="1626786"/>
              <a:chOff x="0" y="0"/>
              <a:chExt cx="10153231" cy="193582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6891" y="16891"/>
                <a:ext cx="10119360" cy="1901952"/>
              </a:xfrm>
              <a:custGeom>
                <a:avLst/>
                <a:gdLst/>
                <a:ahLst/>
                <a:cxnLst/>
                <a:rect r="r" b="b" t="t" l="l"/>
                <a:pathLst>
                  <a:path h="1901952" w="10119360">
                    <a:moveTo>
                      <a:pt x="0" y="0"/>
                    </a:moveTo>
                    <a:lnTo>
                      <a:pt x="10119360" y="0"/>
                    </a:lnTo>
                    <a:lnTo>
                      <a:pt x="10119360" y="1901952"/>
                    </a:lnTo>
                    <a:lnTo>
                      <a:pt x="0" y="1901952"/>
                    </a:lnTo>
                    <a:close/>
                  </a:path>
                </a:pathLst>
              </a:custGeom>
              <a:solidFill>
                <a:srgbClr val="695B51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53142" cy="1935734"/>
              </a:xfrm>
              <a:custGeom>
                <a:avLst/>
                <a:gdLst/>
                <a:ahLst/>
                <a:cxnLst/>
                <a:rect r="r" b="b" t="t" l="l"/>
                <a:pathLst>
                  <a:path h="1935734" w="10153142">
                    <a:moveTo>
                      <a:pt x="16891" y="0"/>
                    </a:moveTo>
                    <a:lnTo>
                      <a:pt x="10136251" y="0"/>
                    </a:lnTo>
                    <a:cubicBezTo>
                      <a:pt x="10145649" y="0"/>
                      <a:pt x="10153142" y="7620"/>
                      <a:pt x="10153142" y="16891"/>
                    </a:cubicBezTo>
                    <a:lnTo>
                      <a:pt x="10153142" y="1918843"/>
                    </a:lnTo>
                    <a:cubicBezTo>
                      <a:pt x="10153142" y="1928241"/>
                      <a:pt x="10145522" y="1935734"/>
                      <a:pt x="10136251" y="1935734"/>
                    </a:cubicBezTo>
                    <a:lnTo>
                      <a:pt x="16891" y="1935734"/>
                    </a:lnTo>
                    <a:cubicBezTo>
                      <a:pt x="7493" y="1935734"/>
                      <a:pt x="0" y="1928114"/>
                      <a:pt x="0" y="191884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918843"/>
                    </a:lnTo>
                    <a:lnTo>
                      <a:pt x="16891" y="1918843"/>
                    </a:lnTo>
                    <a:lnTo>
                      <a:pt x="16891" y="1901952"/>
                    </a:lnTo>
                    <a:lnTo>
                      <a:pt x="10136251" y="1901952"/>
                    </a:lnTo>
                    <a:lnTo>
                      <a:pt x="10136251" y="1918843"/>
                    </a:lnTo>
                    <a:lnTo>
                      <a:pt x="10119360" y="1918843"/>
                    </a:lnTo>
                    <a:lnTo>
                      <a:pt x="10119360" y="16891"/>
                    </a:lnTo>
                    <a:lnTo>
                      <a:pt x="10136251" y="16891"/>
                    </a:lnTo>
                    <a:lnTo>
                      <a:pt x="10136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4A8A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321596" y="342088"/>
              <a:ext cx="922109" cy="922109"/>
              <a:chOff x="0" y="0"/>
              <a:chExt cx="1097280" cy="1097280"/>
            </a:xfrm>
          </p:grpSpPr>
          <p:sp>
            <p:nvSpPr>
              <p:cNvPr name="Freeform 17" id="17" descr="preencoded.png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97280"/>
                    </a:lnTo>
                    <a:lnTo>
                      <a:pt x="0" y="1097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89601" y="178157"/>
              <a:ext cx="6762133" cy="614739"/>
              <a:chOff x="0" y="0"/>
              <a:chExt cx="8046720" cy="7315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467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164335" r="0" b="-164335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804672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Dual Disease Module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89601" y="792896"/>
              <a:ext cx="6762133" cy="512283"/>
              <a:chOff x="0" y="0"/>
              <a:chExt cx="8046720" cy="609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04672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207202" r="0" b="-207202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046720" cy="6477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sz="1699">
                    <a:solidFill>
                      <a:srgbClr val="8FA8C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Diabetes + Cardiovascular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1849425"/>
              <a:ext cx="8532358" cy="1626786"/>
              <a:chOff x="0" y="0"/>
              <a:chExt cx="10153231" cy="193582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6891"/>
                <a:ext cx="10119360" cy="1901952"/>
              </a:xfrm>
              <a:custGeom>
                <a:avLst/>
                <a:gdLst/>
                <a:ahLst/>
                <a:cxnLst/>
                <a:rect r="r" b="b" t="t" l="l"/>
                <a:pathLst>
                  <a:path h="1901952" w="10119360">
                    <a:moveTo>
                      <a:pt x="0" y="0"/>
                    </a:moveTo>
                    <a:lnTo>
                      <a:pt x="10119360" y="0"/>
                    </a:lnTo>
                    <a:lnTo>
                      <a:pt x="10119360" y="1901952"/>
                    </a:lnTo>
                    <a:lnTo>
                      <a:pt x="0" y="1901952"/>
                    </a:lnTo>
                    <a:close/>
                  </a:path>
                </a:pathLst>
              </a:custGeom>
              <a:solidFill>
                <a:srgbClr val="695B51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153142" cy="1935734"/>
              </a:xfrm>
              <a:custGeom>
                <a:avLst/>
                <a:gdLst/>
                <a:ahLst/>
                <a:cxnLst/>
                <a:rect r="r" b="b" t="t" l="l"/>
                <a:pathLst>
                  <a:path h="1935734" w="10153142">
                    <a:moveTo>
                      <a:pt x="16891" y="0"/>
                    </a:moveTo>
                    <a:lnTo>
                      <a:pt x="10136251" y="0"/>
                    </a:lnTo>
                    <a:cubicBezTo>
                      <a:pt x="10145649" y="0"/>
                      <a:pt x="10153142" y="7620"/>
                      <a:pt x="10153142" y="16891"/>
                    </a:cubicBezTo>
                    <a:lnTo>
                      <a:pt x="10153142" y="1918843"/>
                    </a:lnTo>
                    <a:cubicBezTo>
                      <a:pt x="10153142" y="1928241"/>
                      <a:pt x="10145522" y="1935734"/>
                      <a:pt x="10136251" y="1935734"/>
                    </a:cubicBezTo>
                    <a:lnTo>
                      <a:pt x="16891" y="1935734"/>
                    </a:lnTo>
                    <a:cubicBezTo>
                      <a:pt x="7493" y="1935734"/>
                      <a:pt x="0" y="1928114"/>
                      <a:pt x="0" y="191884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918843"/>
                    </a:lnTo>
                    <a:lnTo>
                      <a:pt x="16891" y="1918843"/>
                    </a:lnTo>
                    <a:lnTo>
                      <a:pt x="16891" y="1901952"/>
                    </a:lnTo>
                    <a:lnTo>
                      <a:pt x="10136251" y="1901952"/>
                    </a:lnTo>
                    <a:lnTo>
                      <a:pt x="10136251" y="1918843"/>
                    </a:lnTo>
                    <a:lnTo>
                      <a:pt x="10119360" y="1918843"/>
                    </a:lnTo>
                    <a:lnTo>
                      <a:pt x="10119360" y="16891"/>
                    </a:lnTo>
                    <a:lnTo>
                      <a:pt x="10136251" y="16891"/>
                    </a:lnTo>
                    <a:lnTo>
                      <a:pt x="10136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4A8A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21596" y="2191513"/>
              <a:ext cx="922109" cy="922109"/>
              <a:chOff x="0" y="0"/>
              <a:chExt cx="1097280" cy="1097280"/>
            </a:xfrm>
          </p:grpSpPr>
          <p:sp>
            <p:nvSpPr>
              <p:cNvPr name="Freeform 28" id="28" descr="preencoded.png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97280"/>
                    </a:lnTo>
                    <a:lnTo>
                      <a:pt x="0" y="1097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489601" y="2027582"/>
              <a:ext cx="6762133" cy="614739"/>
              <a:chOff x="0" y="0"/>
              <a:chExt cx="8046720" cy="73152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0467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164335" r="0" b="-164335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804672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Gradient Boosting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89601" y="2642321"/>
              <a:ext cx="6762133" cy="512283"/>
              <a:chOff x="0" y="0"/>
              <a:chExt cx="8046720" cy="609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04672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207202" r="0" b="-207202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8046720" cy="6477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sz="1699">
                    <a:solidFill>
                      <a:srgbClr val="8FA8C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90.25% Accuracy / AUC 0.956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3704811"/>
              <a:ext cx="8532358" cy="1626786"/>
              <a:chOff x="0" y="0"/>
              <a:chExt cx="10153231" cy="193582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6891"/>
                <a:ext cx="10119360" cy="1901952"/>
              </a:xfrm>
              <a:custGeom>
                <a:avLst/>
                <a:gdLst/>
                <a:ahLst/>
                <a:cxnLst/>
                <a:rect r="r" b="b" t="t" l="l"/>
                <a:pathLst>
                  <a:path h="1901952" w="10119360">
                    <a:moveTo>
                      <a:pt x="0" y="0"/>
                    </a:moveTo>
                    <a:lnTo>
                      <a:pt x="10119360" y="0"/>
                    </a:lnTo>
                    <a:lnTo>
                      <a:pt x="10119360" y="1901952"/>
                    </a:lnTo>
                    <a:lnTo>
                      <a:pt x="0" y="1901952"/>
                    </a:lnTo>
                    <a:close/>
                  </a:path>
                </a:pathLst>
              </a:custGeom>
              <a:solidFill>
                <a:srgbClr val="695B51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153142" cy="1935734"/>
              </a:xfrm>
              <a:custGeom>
                <a:avLst/>
                <a:gdLst/>
                <a:ahLst/>
                <a:cxnLst/>
                <a:rect r="r" b="b" t="t" l="l"/>
                <a:pathLst>
                  <a:path h="1935734" w="10153142">
                    <a:moveTo>
                      <a:pt x="16891" y="0"/>
                    </a:moveTo>
                    <a:lnTo>
                      <a:pt x="10136251" y="0"/>
                    </a:lnTo>
                    <a:cubicBezTo>
                      <a:pt x="10145649" y="0"/>
                      <a:pt x="10153142" y="7620"/>
                      <a:pt x="10153142" y="16891"/>
                    </a:cubicBezTo>
                    <a:lnTo>
                      <a:pt x="10153142" y="1918843"/>
                    </a:lnTo>
                    <a:cubicBezTo>
                      <a:pt x="10153142" y="1928241"/>
                      <a:pt x="10145522" y="1935734"/>
                      <a:pt x="10136251" y="1935734"/>
                    </a:cubicBezTo>
                    <a:lnTo>
                      <a:pt x="16891" y="1935734"/>
                    </a:lnTo>
                    <a:cubicBezTo>
                      <a:pt x="7493" y="1935734"/>
                      <a:pt x="0" y="1928114"/>
                      <a:pt x="0" y="191884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918843"/>
                    </a:lnTo>
                    <a:lnTo>
                      <a:pt x="16891" y="1918843"/>
                    </a:lnTo>
                    <a:lnTo>
                      <a:pt x="16891" y="1901952"/>
                    </a:lnTo>
                    <a:lnTo>
                      <a:pt x="10136251" y="1901952"/>
                    </a:lnTo>
                    <a:lnTo>
                      <a:pt x="10136251" y="1918843"/>
                    </a:lnTo>
                    <a:lnTo>
                      <a:pt x="10119360" y="1918843"/>
                    </a:lnTo>
                    <a:lnTo>
                      <a:pt x="10119360" y="16891"/>
                    </a:lnTo>
                    <a:lnTo>
                      <a:pt x="10136251" y="16891"/>
                    </a:lnTo>
                    <a:lnTo>
                      <a:pt x="10136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4A8A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321596" y="4046899"/>
              <a:ext cx="922109" cy="922109"/>
              <a:chOff x="0" y="0"/>
              <a:chExt cx="1097280" cy="1097280"/>
            </a:xfrm>
          </p:grpSpPr>
          <p:sp>
            <p:nvSpPr>
              <p:cNvPr name="Freeform 39" id="39" descr="preencoded.png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97280"/>
                    </a:lnTo>
                    <a:lnTo>
                      <a:pt x="0" y="1097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489601" y="3882968"/>
              <a:ext cx="6762133" cy="614739"/>
              <a:chOff x="0" y="0"/>
              <a:chExt cx="8046720" cy="73152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0467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164335" r="0" b="-164335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804672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Random Forest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489601" y="4497708"/>
              <a:ext cx="6762133" cy="512283"/>
              <a:chOff x="0" y="0"/>
              <a:chExt cx="8046720" cy="6096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04672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207202" r="0" b="-207202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8046720" cy="6477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sz="1699">
                    <a:solidFill>
                      <a:srgbClr val="8FA8C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82.25% Accuracy / AUC 0.901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5544222"/>
              <a:ext cx="8545949" cy="1629377"/>
              <a:chOff x="0" y="0"/>
              <a:chExt cx="10153231" cy="193582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10119360" cy="1901952"/>
              </a:xfrm>
              <a:custGeom>
                <a:avLst/>
                <a:gdLst/>
                <a:ahLst/>
                <a:cxnLst/>
                <a:rect r="r" b="b" t="t" l="l"/>
                <a:pathLst>
                  <a:path h="1901952" w="10119360">
                    <a:moveTo>
                      <a:pt x="0" y="0"/>
                    </a:moveTo>
                    <a:lnTo>
                      <a:pt x="10119360" y="0"/>
                    </a:lnTo>
                    <a:lnTo>
                      <a:pt x="10119360" y="1901952"/>
                    </a:lnTo>
                    <a:lnTo>
                      <a:pt x="0" y="1901952"/>
                    </a:lnTo>
                    <a:close/>
                  </a:path>
                </a:pathLst>
              </a:custGeom>
              <a:solidFill>
                <a:srgbClr val="695B51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153142" cy="1935734"/>
              </a:xfrm>
              <a:custGeom>
                <a:avLst/>
                <a:gdLst/>
                <a:ahLst/>
                <a:cxnLst/>
                <a:rect r="r" b="b" t="t" l="l"/>
                <a:pathLst>
                  <a:path h="1935734" w="10153142">
                    <a:moveTo>
                      <a:pt x="16891" y="0"/>
                    </a:moveTo>
                    <a:lnTo>
                      <a:pt x="10136251" y="0"/>
                    </a:lnTo>
                    <a:cubicBezTo>
                      <a:pt x="10145649" y="0"/>
                      <a:pt x="10153142" y="7620"/>
                      <a:pt x="10153142" y="16891"/>
                    </a:cubicBezTo>
                    <a:lnTo>
                      <a:pt x="10153142" y="1918843"/>
                    </a:lnTo>
                    <a:cubicBezTo>
                      <a:pt x="10153142" y="1928241"/>
                      <a:pt x="10145522" y="1935734"/>
                      <a:pt x="10136251" y="1935734"/>
                    </a:cubicBezTo>
                    <a:lnTo>
                      <a:pt x="16891" y="1935734"/>
                    </a:lnTo>
                    <a:cubicBezTo>
                      <a:pt x="7493" y="1935734"/>
                      <a:pt x="0" y="1928114"/>
                      <a:pt x="0" y="191884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918843"/>
                    </a:lnTo>
                    <a:lnTo>
                      <a:pt x="16891" y="1918843"/>
                    </a:lnTo>
                    <a:lnTo>
                      <a:pt x="16891" y="1901952"/>
                    </a:lnTo>
                    <a:lnTo>
                      <a:pt x="10136251" y="1901952"/>
                    </a:lnTo>
                    <a:lnTo>
                      <a:pt x="10136251" y="1918843"/>
                    </a:lnTo>
                    <a:lnTo>
                      <a:pt x="10119360" y="1918843"/>
                    </a:lnTo>
                    <a:lnTo>
                      <a:pt x="10119360" y="16891"/>
                    </a:lnTo>
                    <a:lnTo>
                      <a:pt x="10136251" y="16891"/>
                    </a:lnTo>
                    <a:lnTo>
                      <a:pt x="10136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4A8A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392702" y="5909637"/>
              <a:ext cx="914522" cy="914522"/>
              <a:chOff x="0" y="0"/>
              <a:chExt cx="1097280" cy="1097280"/>
            </a:xfrm>
          </p:grpSpPr>
          <p:sp>
            <p:nvSpPr>
              <p:cNvPr name="Freeform 50" id="50" descr="preencoded.png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97280"/>
                    </a:lnTo>
                    <a:lnTo>
                      <a:pt x="0" y="1097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551097" y="5747055"/>
              <a:ext cx="6706497" cy="609682"/>
              <a:chOff x="0" y="0"/>
              <a:chExt cx="8046720" cy="73152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0467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164335" r="0" b="-164335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804672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Django Web App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551097" y="6356737"/>
              <a:ext cx="6706497" cy="508068"/>
              <a:chOff x="0" y="0"/>
              <a:chExt cx="8046720" cy="6096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04672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207202" r="0" b="-207202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8046720" cy="6477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40"/>
                  </a:lnSpc>
                </a:pPr>
                <a:r>
                  <a:rPr lang="en-US" sz="1700">
                    <a:solidFill>
                      <a:srgbClr val="8FA8C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AJAX · SQLite · Chart.js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7402199"/>
              <a:ext cx="8590117" cy="1637798"/>
              <a:chOff x="0" y="0"/>
              <a:chExt cx="10153231" cy="1935823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16891" y="16891"/>
                <a:ext cx="10119360" cy="1901952"/>
              </a:xfrm>
              <a:custGeom>
                <a:avLst/>
                <a:gdLst/>
                <a:ahLst/>
                <a:cxnLst/>
                <a:rect r="r" b="b" t="t" l="l"/>
                <a:pathLst>
                  <a:path h="1901952" w="10119360">
                    <a:moveTo>
                      <a:pt x="0" y="0"/>
                    </a:moveTo>
                    <a:lnTo>
                      <a:pt x="10119360" y="0"/>
                    </a:lnTo>
                    <a:lnTo>
                      <a:pt x="10119360" y="1901952"/>
                    </a:lnTo>
                    <a:lnTo>
                      <a:pt x="0" y="1901952"/>
                    </a:lnTo>
                    <a:close/>
                  </a:path>
                </a:pathLst>
              </a:custGeom>
              <a:solidFill>
                <a:srgbClr val="695B51"/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0153142" cy="1935734"/>
              </a:xfrm>
              <a:custGeom>
                <a:avLst/>
                <a:gdLst/>
                <a:ahLst/>
                <a:cxnLst/>
                <a:rect r="r" b="b" t="t" l="l"/>
                <a:pathLst>
                  <a:path h="1935734" w="10153142">
                    <a:moveTo>
                      <a:pt x="16891" y="0"/>
                    </a:moveTo>
                    <a:lnTo>
                      <a:pt x="10136251" y="0"/>
                    </a:lnTo>
                    <a:cubicBezTo>
                      <a:pt x="10145649" y="0"/>
                      <a:pt x="10153142" y="7620"/>
                      <a:pt x="10153142" y="16891"/>
                    </a:cubicBezTo>
                    <a:lnTo>
                      <a:pt x="10153142" y="1918843"/>
                    </a:lnTo>
                    <a:cubicBezTo>
                      <a:pt x="10153142" y="1928241"/>
                      <a:pt x="10145522" y="1935734"/>
                      <a:pt x="10136251" y="1935734"/>
                    </a:cubicBezTo>
                    <a:lnTo>
                      <a:pt x="16891" y="1935734"/>
                    </a:lnTo>
                    <a:cubicBezTo>
                      <a:pt x="7493" y="1935734"/>
                      <a:pt x="0" y="1928114"/>
                      <a:pt x="0" y="191884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918843"/>
                    </a:lnTo>
                    <a:lnTo>
                      <a:pt x="16891" y="1918843"/>
                    </a:lnTo>
                    <a:lnTo>
                      <a:pt x="16891" y="1901952"/>
                    </a:lnTo>
                    <a:lnTo>
                      <a:pt x="10136251" y="1901952"/>
                    </a:lnTo>
                    <a:lnTo>
                      <a:pt x="10136251" y="1918843"/>
                    </a:lnTo>
                    <a:lnTo>
                      <a:pt x="10119360" y="1918843"/>
                    </a:lnTo>
                    <a:lnTo>
                      <a:pt x="10119360" y="16891"/>
                    </a:lnTo>
                    <a:lnTo>
                      <a:pt x="10136251" y="16891"/>
                    </a:lnTo>
                    <a:lnTo>
                      <a:pt x="10136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4A8A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323773" y="7746602"/>
              <a:ext cx="928351" cy="928351"/>
              <a:chOff x="0" y="0"/>
              <a:chExt cx="1097280" cy="1097280"/>
            </a:xfrm>
          </p:grpSpPr>
          <p:sp>
            <p:nvSpPr>
              <p:cNvPr name="Freeform 61" id="61" descr="preencoded.png"/>
              <p:cNvSpPr/>
              <p:nvPr/>
            </p:nvSpPr>
            <p:spPr>
              <a:xfrm flipH="false" flipV="false" rot="0">
                <a:off x="0" y="0"/>
                <a:ext cx="10972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97280"/>
                    </a:lnTo>
                    <a:lnTo>
                      <a:pt x="0" y="1097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0" t="0" r="0" b="0"/>
                </a:stretch>
              </a:blip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1499685" y="7581562"/>
              <a:ext cx="6807908" cy="618901"/>
              <a:chOff x="0" y="0"/>
              <a:chExt cx="8046720" cy="73152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0467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164335" r="0" b="-164335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8046720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SMOTE Balanced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499685" y="8200463"/>
              <a:ext cx="6807908" cy="515751"/>
              <a:chOff x="0" y="0"/>
              <a:chExt cx="8046720" cy="6096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04672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207202" r="0" b="-207202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8046720" cy="6477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sz="1699">
                    <a:solidFill>
                      <a:srgbClr val="8FA8C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2,000 Samples per Model</a:t>
                </a:r>
              </a:p>
            </p:txBody>
          </p:sp>
        </p:grpSp>
      </p:grpSp>
      <p:sp>
        <p:nvSpPr>
          <p:cNvPr name="Freeform 68" id="68"/>
          <p:cNvSpPr/>
          <p:nvPr/>
        </p:nvSpPr>
        <p:spPr>
          <a:xfrm flipH="true" flipV="true" rot="0">
            <a:off x="15612928" y="1150394"/>
            <a:ext cx="2047699" cy="2047699"/>
          </a:xfrm>
          <a:custGeom>
            <a:avLst/>
            <a:gdLst/>
            <a:ahLst/>
            <a:cxnLst/>
            <a:rect r="r" b="b" t="t" l="l"/>
            <a:pathLst>
              <a:path h="2047699" w="2047699">
                <a:moveTo>
                  <a:pt x="2047698" y="2047698"/>
                </a:moveTo>
                <a:lnTo>
                  <a:pt x="0" y="2047698"/>
                </a:lnTo>
                <a:lnTo>
                  <a:pt x="0" y="0"/>
                </a:lnTo>
                <a:lnTo>
                  <a:pt x="2047698" y="0"/>
                </a:lnTo>
                <a:lnTo>
                  <a:pt x="2047698" y="204769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8986364" y="8648299"/>
            <a:ext cx="7523483" cy="402336"/>
            <a:chOff x="0" y="0"/>
            <a:chExt cx="10031311" cy="536448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7455"/>
              <a:ext cx="1935823" cy="521551"/>
              <a:chOff x="0" y="0"/>
              <a:chExt cx="1935823" cy="521551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16891" y="16891"/>
                <a:ext cx="1901952" cy="487680"/>
              </a:xfrm>
              <a:custGeom>
                <a:avLst/>
                <a:gdLst/>
                <a:ahLst/>
                <a:cxnLst/>
                <a:rect r="r" b="b" t="t" l="l"/>
                <a:pathLst>
                  <a:path h="487680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487680"/>
                    </a:lnTo>
                    <a:lnTo>
                      <a:pt x="0" y="487680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935734" cy="521464"/>
              </a:xfrm>
              <a:custGeom>
                <a:avLst/>
                <a:gdLst/>
                <a:ahLst/>
                <a:cxnLst/>
                <a:rect r="r" b="b" t="t" l="l"/>
                <a:pathLst>
                  <a:path h="521464" w="1935734">
                    <a:moveTo>
                      <a:pt x="16891" y="0"/>
                    </a:moveTo>
                    <a:lnTo>
                      <a:pt x="1918843" y="0"/>
                    </a:lnTo>
                    <a:cubicBezTo>
                      <a:pt x="1928241" y="0"/>
                      <a:pt x="1935734" y="7620"/>
                      <a:pt x="1935734" y="16891"/>
                    </a:cubicBezTo>
                    <a:lnTo>
                      <a:pt x="1935734" y="504571"/>
                    </a:lnTo>
                    <a:cubicBezTo>
                      <a:pt x="1935734" y="513969"/>
                      <a:pt x="1928114" y="521462"/>
                      <a:pt x="1918843" y="521462"/>
                    </a:cubicBezTo>
                    <a:lnTo>
                      <a:pt x="16891" y="521462"/>
                    </a:lnTo>
                    <a:cubicBezTo>
                      <a:pt x="7620" y="521589"/>
                      <a:pt x="0" y="513969"/>
                      <a:pt x="0" y="5045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04571"/>
                    </a:lnTo>
                    <a:lnTo>
                      <a:pt x="16891" y="504571"/>
                    </a:lnTo>
                    <a:lnTo>
                      <a:pt x="16891" y="487680"/>
                    </a:lnTo>
                    <a:lnTo>
                      <a:pt x="1918843" y="487680"/>
                    </a:lnTo>
                    <a:lnTo>
                      <a:pt x="1918843" y="504571"/>
                    </a:lnTo>
                    <a:lnTo>
                      <a:pt x="1901952" y="504571"/>
                    </a:lnTo>
                    <a:lnTo>
                      <a:pt x="1901952" y="16891"/>
                    </a:lnTo>
                    <a:lnTo>
                      <a:pt x="1918843" y="16891"/>
                    </a:lnTo>
                    <a:lnTo>
                      <a:pt x="191884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16929" y="0"/>
              <a:ext cx="1901952" cy="536448"/>
              <a:chOff x="0" y="0"/>
              <a:chExt cx="1901952" cy="536448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901952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463F3A">
                  <a:alpha val="0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28575"/>
                <a:ext cx="1901952" cy="56502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60"/>
                  </a:lnSpc>
                </a:pPr>
                <a:r>
                  <a:rPr lang="en-US" sz="1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Python 3.10+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2023872" y="7455"/>
              <a:ext cx="1935823" cy="521551"/>
              <a:chOff x="0" y="0"/>
              <a:chExt cx="1935823" cy="521551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16891" y="16891"/>
                <a:ext cx="1901952" cy="487680"/>
              </a:xfrm>
              <a:custGeom>
                <a:avLst/>
                <a:gdLst/>
                <a:ahLst/>
                <a:cxnLst/>
                <a:rect r="r" b="b" t="t" l="l"/>
                <a:pathLst>
                  <a:path h="487680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487680"/>
                    </a:lnTo>
                    <a:lnTo>
                      <a:pt x="0" y="487680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935734" cy="521464"/>
              </a:xfrm>
              <a:custGeom>
                <a:avLst/>
                <a:gdLst/>
                <a:ahLst/>
                <a:cxnLst/>
                <a:rect r="r" b="b" t="t" l="l"/>
                <a:pathLst>
                  <a:path h="521464" w="1935734">
                    <a:moveTo>
                      <a:pt x="16891" y="0"/>
                    </a:moveTo>
                    <a:lnTo>
                      <a:pt x="1918843" y="0"/>
                    </a:lnTo>
                    <a:cubicBezTo>
                      <a:pt x="1928241" y="0"/>
                      <a:pt x="1935734" y="7620"/>
                      <a:pt x="1935734" y="16891"/>
                    </a:cubicBezTo>
                    <a:lnTo>
                      <a:pt x="1935734" y="504571"/>
                    </a:lnTo>
                    <a:cubicBezTo>
                      <a:pt x="1935734" y="513969"/>
                      <a:pt x="1928114" y="521462"/>
                      <a:pt x="1918843" y="521462"/>
                    </a:cubicBezTo>
                    <a:lnTo>
                      <a:pt x="16891" y="521462"/>
                    </a:lnTo>
                    <a:cubicBezTo>
                      <a:pt x="7620" y="521589"/>
                      <a:pt x="0" y="513969"/>
                      <a:pt x="0" y="5045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04571"/>
                    </a:lnTo>
                    <a:lnTo>
                      <a:pt x="16891" y="504571"/>
                    </a:lnTo>
                    <a:lnTo>
                      <a:pt x="16891" y="487680"/>
                    </a:lnTo>
                    <a:lnTo>
                      <a:pt x="1918843" y="487680"/>
                    </a:lnTo>
                    <a:lnTo>
                      <a:pt x="1918843" y="504571"/>
                    </a:lnTo>
                    <a:lnTo>
                      <a:pt x="1901952" y="504571"/>
                    </a:lnTo>
                    <a:lnTo>
                      <a:pt x="1901952" y="16891"/>
                    </a:lnTo>
                    <a:lnTo>
                      <a:pt x="1918843" y="16891"/>
                    </a:lnTo>
                    <a:lnTo>
                      <a:pt x="191884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</p:grpSp>
        <p:grpSp>
          <p:nvGrpSpPr>
            <p:cNvPr name="Group 79" id="79"/>
            <p:cNvGrpSpPr/>
            <p:nvPr/>
          </p:nvGrpSpPr>
          <p:grpSpPr>
            <a:xfrm rot="0">
              <a:off x="2040801" y="0"/>
              <a:ext cx="1901952" cy="536448"/>
              <a:chOff x="0" y="0"/>
              <a:chExt cx="1901952" cy="536448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901952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463F3A">
                  <a:alpha val="0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28575"/>
                <a:ext cx="1901952" cy="56502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60"/>
                  </a:lnSpc>
                </a:pPr>
                <a:r>
                  <a:rPr lang="en-US" sz="1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Django 5.x</a:t>
                </a: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4047744" y="7455"/>
              <a:ext cx="1935823" cy="521551"/>
              <a:chOff x="0" y="0"/>
              <a:chExt cx="1935823" cy="521551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16891" y="16891"/>
                <a:ext cx="1901952" cy="487680"/>
              </a:xfrm>
              <a:custGeom>
                <a:avLst/>
                <a:gdLst/>
                <a:ahLst/>
                <a:cxnLst/>
                <a:rect r="r" b="b" t="t" l="l"/>
                <a:pathLst>
                  <a:path h="487680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487680"/>
                    </a:lnTo>
                    <a:lnTo>
                      <a:pt x="0" y="487680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1935734" cy="521464"/>
              </a:xfrm>
              <a:custGeom>
                <a:avLst/>
                <a:gdLst/>
                <a:ahLst/>
                <a:cxnLst/>
                <a:rect r="r" b="b" t="t" l="l"/>
                <a:pathLst>
                  <a:path h="521464" w="1935734">
                    <a:moveTo>
                      <a:pt x="16891" y="0"/>
                    </a:moveTo>
                    <a:lnTo>
                      <a:pt x="1918843" y="0"/>
                    </a:lnTo>
                    <a:cubicBezTo>
                      <a:pt x="1928241" y="0"/>
                      <a:pt x="1935734" y="7620"/>
                      <a:pt x="1935734" y="16891"/>
                    </a:cubicBezTo>
                    <a:lnTo>
                      <a:pt x="1935734" y="504571"/>
                    </a:lnTo>
                    <a:cubicBezTo>
                      <a:pt x="1935734" y="513969"/>
                      <a:pt x="1928114" y="521462"/>
                      <a:pt x="1918843" y="521462"/>
                    </a:cubicBezTo>
                    <a:lnTo>
                      <a:pt x="16891" y="521462"/>
                    </a:lnTo>
                    <a:cubicBezTo>
                      <a:pt x="7620" y="521589"/>
                      <a:pt x="0" y="513969"/>
                      <a:pt x="0" y="5045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04571"/>
                    </a:lnTo>
                    <a:lnTo>
                      <a:pt x="16891" y="504571"/>
                    </a:lnTo>
                    <a:lnTo>
                      <a:pt x="16891" y="487680"/>
                    </a:lnTo>
                    <a:lnTo>
                      <a:pt x="1918843" y="487680"/>
                    </a:lnTo>
                    <a:lnTo>
                      <a:pt x="1918843" y="504571"/>
                    </a:lnTo>
                    <a:lnTo>
                      <a:pt x="1901952" y="504571"/>
                    </a:lnTo>
                    <a:lnTo>
                      <a:pt x="1901952" y="16891"/>
                    </a:lnTo>
                    <a:lnTo>
                      <a:pt x="1918843" y="16891"/>
                    </a:lnTo>
                    <a:lnTo>
                      <a:pt x="191884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4064673" y="0"/>
              <a:ext cx="1901952" cy="536448"/>
              <a:chOff x="0" y="0"/>
              <a:chExt cx="1901952" cy="536448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901952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463F3A">
                  <a:alpha val="0"/>
                </a:srgbClr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28575"/>
                <a:ext cx="1901952" cy="56502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60"/>
                  </a:lnSpc>
                </a:pPr>
                <a:r>
                  <a:rPr lang="en-US" sz="1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scikit-learn</a:t>
                </a: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071616" y="7455"/>
              <a:ext cx="1935823" cy="521551"/>
              <a:chOff x="0" y="0"/>
              <a:chExt cx="1935823" cy="521551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16891" y="16891"/>
                <a:ext cx="1901952" cy="487680"/>
              </a:xfrm>
              <a:custGeom>
                <a:avLst/>
                <a:gdLst/>
                <a:ahLst/>
                <a:cxnLst/>
                <a:rect r="r" b="b" t="t" l="l"/>
                <a:pathLst>
                  <a:path h="487680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487680"/>
                    </a:lnTo>
                    <a:lnTo>
                      <a:pt x="0" y="487680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935734" cy="521464"/>
              </a:xfrm>
              <a:custGeom>
                <a:avLst/>
                <a:gdLst/>
                <a:ahLst/>
                <a:cxnLst/>
                <a:rect r="r" b="b" t="t" l="l"/>
                <a:pathLst>
                  <a:path h="521464" w="1935734">
                    <a:moveTo>
                      <a:pt x="16891" y="0"/>
                    </a:moveTo>
                    <a:lnTo>
                      <a:pt x="1918843" y="0"/>
                    </a:lnTo>
                    <a:cubicBezTo>
                      <a:pt x="1928241" y="0"/>
                      <a:pt x="1935734" y="7620"/>
                      <a:pt x="1935734" y="16891"/>
                    </a:cubicBezTo>
                    <a:lnTo>
                      <a:pt x="1935734" y="504571"/>
                    </a:lnTo>
                    <a:cubicBezTo>
                      <a:pt x="1935734" y="513969"/>
                      <a:pt x="1928114" y="521462"/>
                      <a:pt x="1918843" y="521462"/>
                    </a:cubicBezTo>
                    <a:lnTo>
                      <a:pt x="16891" y="521462"/>
                    </a:lnTo>
                    <a:cubicBezTo>
                      <a:pt x="7620" y="521589"/>
                      <a:pt x="0" y="513969"/>
                      <a:pt x="0" y="5045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04571"/>
                    </a:lnTo>
                    <a:lnTo>
                      <a:pt x="16891" y="504571"/>
                    </a:lnTo>
                    <a:lnTo>
                      <a:pt x="16891" y="487680"/>
                    </a:lnTo>
                    <a:lnTo>
                      <a:pt x="1918843" y="487680"/>
                    </a:lnTo>
                    <a:lnTo>
                      <a:pt x="1918843" y="504571"/>
                    </a:lnTo>
                    <a:lnTo>
                      <a:pt x="1901952" y="504571"/>
                    </a:lnTo>
                    <a:lnTo>
                      <a:pt x="1901952" y="16891"/>
                    </a:lnTo>
                    <a:lnTo>
                      <a:pt x="1918843" y="16891"/>
                    </a:lnTo>
                    <a:lnTo>
                      <a:pt x="191884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</p:grpSp>
        <p:grpSp>
          <p:nvGrpSpPr>
            <p:cNvPr name="Group 91" id="91"/>
            <p:cNvGrpSpPr/>
            <p:nvPr/>
          </p:nvGrpSpPr>
          <p:grpSpPr>
            <a:xfrm rot="0">
              <a:off x="6088545" y="0"/>
              <a:ext cx="1901952" cy="536448"/>
              <a:chOff x="0" y="0"/>
              <a:chExt cx="1901952" cy="536448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1901952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463F3A">
                  <a:alpha val="0"/>
                </a:srgbClr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28575"/>
                <a:ext cx="1901952" cy="56502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60"/>
                  </a:lnSpc>
                </a:pPr>
                <a:r>
                  <a:rPr lang="en-US" sz="1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Chart.js</a:t>
                </a: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8095488" y="7455"/>
              <a:ext cx="1935823" cy="521551"/>
              <a:chOff x="0" y="0"/>
              <a:chExt cx="1935823" cy="521551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16891" y="16891"/>
                <a:ext cx="1901952" cy="487680"/>
              </a:xfrm>
              <a:custGeom>
                <a:avLst/>
                <a:gdLst/>
                <a:ahLst/>
                <a:cxnLst/>
                <a:rect r="r" b="b" t="t" l="l"/>
                <a:pathLst>
                  <a:path h="487680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487680"/>
                    </a:lnTo>
                    <a:lnTo>
                      <a:pt x="0" y="487680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1935734" cy="521464"/>
              </a:xfrm>
              <a:custGeom>
                <a:avLst/>
                <a:gdLst/>
                <a:ahLst/>
                <a:cxnLst/>
                <a:rect r="r" b="b" t="t" l="l"/>
                <a:pathLst>
                  <a:path h="521464" w="1935734">
                    <a:moveTo>
                      <a:pt x="16891" y="0"/>
                    </a:moveTo>
                    <a:lnTo>
                      <a:pt x="1918843" y="0"/>
                    </a:lnTo>
                    <a:cubicBezTo>
                      <a:pt x="1928241" y="0"/>
                      <a:pt x="1935734" y="7620"/>
                      <a:pt x="1935734" y="16891"/>
                    </a:cubicBezTo>
                    <a:lnTo>
                      <a:pt x="1935734" y="504571"/>
                    </a:lnTo>
                    <a:cubicBezTo>
                      <a:pt x="1935734" y="513969"/>
                      <a:pt x="1928114" y="521462"/>
                      <a:pt x="1918843" y="521462"/>
                    </a:cubicBezTo>
                    <a:lnTo>
                      <a:pt x="16891" y="521462"/>
                    </a:lnTo>
                    <a:cubicBezTo>
                      <a:pt x="7620" y="521589"/>
                      <a:pt x="0" y="513969"/>
                      <a:pt x="0" y="5045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04571"/>
                    </a:lnTo>
                    <a:lnTo>
                      <a:pt x="16891" y="504571"/>
                    </a:lnTo>
                    <a:lnTo>
                      <a:pt x="16891" y="487680"/>
                    </a:lnTo>
                    <a:lnTo>
                      <a:pt x="1918843" y="487680"/>
                    </a:lnTo>
                    <a:lnTo>
                      <a:pt x="1918843" y="504571"/>
                    </a:lnTo>
                    <a:lnTo>
                      <a:pt x="1901952" y="504571"/>
                    </a:lnTo>
                    <a:lnTo>
                      <a:pt x="1901952" y="16891"/>
                    </a:lnTo>
                    <a:lnTo>
                      <a:pt x="1918843" y="16891"/>
                    </a:lnTo>
                    <a:lnTo>
                      <a:pt x="191884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463F3A"/>
              </a:solidFill>
            </p:spPr>
          </p:sp>
        </p:grpSp>
        <p:grpSp>
          <p:nvGrpSpPr>
            <p:cNvPr name="Group 97" id="97"/>
            <p:cNvGrpSpPr/>
            <p:nvPr/>
          </p:nvGrpSpPr>
          <p:grpSpPr>
            <a:xfrm rot="0">
              <a:off x="8112417" y="0"/>
              <a:ext cx="1901952" cy="536448"/>
              <a:chOff x="0" y="0"/>
              <a:chExt cx="1901952" cy="536448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1901952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1901952">
                    <a:moveTo>
                      <a:pt x="0" y="0"/>
                    </a:moveTo>
                    <a:lnTo>
                      <a:pt x="1901952" y="0"/>
                    </a:lnTo>
                    <a:lnTo>
                      <a:pt x="1901952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463F3A">
                  <a:alpha val="0"/>
                </a:srgbClr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28575"/>
                <a:ext cx="1901952" cy="56502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60"/>
                  </a:lnSpc>
                </a:pPr>
                <a:r>
                  <a:rPr lang="en-US" sz="1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SQLite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2283"/>
            <a:ext cx="14455464" cy="64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463F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GLOBAL BURDEN OF </a:t>
            </a:r>
            <a:r>
              <a:rPr lang="en-US" b="true" sz="3800">
                <a:solidFill>
                  <a:srgbClr val="463F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PREVENTABLE CHRONIC DISEASE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5484164" y="8953299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610002"/>
                </a:moveTo>
                <a:lnTo>
                  <a:pt x="1775136" y="610002"/>
                </a:lnTo>
                <a:lnTo>
                  <a:pt x="1775136" y="0"/>
                </a:lnTo>
                <a:lnTo>
                  <a:pt x="0" y="0"/>
                </a:lnTo>
                <a:lnTo>
                  <a:pt x="0" y="6100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14447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84164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718283" y="0"/>
                </a:lnTo>
                <a:lnTo>
                  <a:pt x="371828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211601" y="1028700"/>
            <a:ext cx="2047699" cy="2047699"/>
          </a:xfrm>
          <a:custGeom>
            <a:avLst/>
            <a:gdLst/>
            <a:ahLst/>
            <a:cxnLst/>
            <a:rect r="r" b="b" t="t" l="l"/>
            <a:pathLst>
              <a:path h="2047699" w="2047699">
                <a:moveTo>
                  <a:pt x="2047699" y="2047699"/>
                </a:moveTo>
                <a:lnTo>
                  <a:pt x="0" y="2047699"/>
                </a:lnTo>
                <a:lnTo>
                  <a:pt x="0" y="0"/>
                </a:lnTo>
                <a:lnTo>
                  <a:pt x="2047699" y="0"/>
                </a:lnTo>
                <a:lnTo>
                  <a:pt x="2047699" y="204769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732990"/>
            <a:ext cx="1525310" cy="1525310"/>
          </a:xfrm>
          <a:custGeom>
            <a:avLst/>
            <a:gdLst/>
            <a:ahLst/>
            <a:cxnLst/>
            <a:rect r="r" b="b" t="t" l="l"/>
            <a:pathLst>
              <a:path h="1525310" w="1525310">
                <a:moveTo>
                  <a:pt x="0" y="0"/>
                </a:moveTo>
                <a:lnTo>
                  <a:pt x="1525310" y="0"/>
                </a:lnTo>
                <a:lnTo>
                  <a:pt x="1525310" y="1525310"/>
                </a:lnTo>
                <a:lnTo>
                  <a:pt x="0" y="15253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86384" y="2328167"/>
            <a:ext cx="5328923" cy="2549147"/>
            <a:chOff x="0" y="0"/>
            <a:chExt cx="7105231" cy="3398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0713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463F3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051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81883"/>
                  </a:lnTo>
                  <a:cubicBezTo>
                    <a:pt x="7105142" y="3391281"/>
                    <a:pt x="7097522" y="3398774"/>
                    <a:pt x="70882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7088251" y="3364992"/>
                  </a:lnTo>
                  <a:lnTo>
                    <a:pt x="7088251" y="3381883"/>
                  </a:lnTo>
                  <a:lnTo>
                    <a:pt x="7071360" y="338188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A817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6384" y="2328167"/>
            <a:ext cx="5328923" cy="125987"/>
            <a:chOff x="0" y="0"/>
            <a:chExt cx="7105231" cy="167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071360" cy="134112"/>
            </a:xfrm>
            <a:custGeom>
              <a:avLst/>
              <a:gdLst/>
              <a:ahLst/>
              <a:cxnLst/>
              <a:rect r="r" b="b" t="t" l="l"/>
              <a:pathLst>
                <a:path h="1341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C9A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142" cy="167896"/>
            </a:xfrm>
            <a:custGeom>
              <a:avLst/>
              <a:gdLst/>
              <a:ahLst/>
              <a:cxnLst/>
              <a:rect r="r" b="b" t="t" l="l"/>
              <a:pathLst>
                <a:path h="16789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51003"/>
                  </a:lnTo>
                  <a:cubicBezTo>
                    <a:pt x="7105142" y="160401"/>
                    <a:pt x="7097522" y="167894"/>
                    <a:pt x="708825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088251" y="134112"/>
                  </a:lnTo>
                  <a:lnTo>
                    <a:pt x="7088251" y="151003"/>
                  </a:lnTo>
                  <a:lnTo>
                    <a:pt x="7071360" y="15100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A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99081" y="2523744"/>
            <a:ext cx="5303520" cy="1450330"/>
            <a:chOff x="0" y="0"/>
            <a:chExt cx="7071360" cy="19337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1360" cy="1933773"/>
            </a:xfrm>
            <a:custGeom>
              <a:avLst/>
              <a:gdLst/>
              <a:ahLst/>
              <a:cxnLst/>
              <a:rect r="r" b="b" t="t" l="l"/>
              <a:pathLst>
                <a:path h="1933773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5857" r="0" b="-166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42875"/>
              <a:ext cx="707136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b="true" sz="7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537M+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9081" y="3877056"/>
            <a:ext cx="5303520" cy="841248"/>
            <a:chOff x="0" y="0"/>
            <a:chExt cx="7071360" cy="11216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7071360" cy="1226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Adults with diabetes</a:t>
              </a:r>
            </a:p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globally (IDF 2025)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34407" y="2328167"/>
            <a:ext cx="5328923" cy="2549147"/>
            <a:chOff x="0" y="0"/>
            <a:chExt cx="7105231" cy="33988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0713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463F3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51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81883"/>
                  </a:lnTo>
                  <a:cubicBezTo>
                    <a:pt x="7105142" y="3391281"/>
                    <a:pt x="7097522" y="3398774"/>
                    <a:pt x="70882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7088251" y="3364992"/>
                  </a:lnTo>
                  <a:lnTo>
                    <a:pt x="7088251" y="3381883"/>
                  </a:lnTo>
                  <a:lnTo>
                    <a:pt x="7071360" y="338188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95B5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34407" y="2328167"/>
            <a:ext cx="5328923" cy="125987"/>
            <a:chOff x="0" y="0"/>
            <a:chExt cx="7105231" cy="167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071360" cy="134112"/>
            </a:xfrm>
            <a:custGeom>
              <a:avLst/>
              <a:gdLst/>
              <a:ahLst/>
              <a:cxnLst/>
              <a:rect r="r" b="b" t="t" l="l"/>
              <a:pathLst>
                <a:path h="1341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05142" cy="167896"/>
            </a:xfrm>
            <a:custGeom>
              <a:avLst/>
              <a:gdLst/>
              <a:ahLst/>
              <a:cxnLst/>
              <a:rect r="r" b="b" t="t" l="l"/>
              <a:pathLst>
                <a:path h="16789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51003"/>
                  </a:lnTo>
                  <a:cubicBezTo>
                    <a:pt x="7105142" y="160401"/>
                    <a:pt x="7097522" y="167894"/>
                    <a:pt x="708825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088251" y="134112"/>
                  </a:lnTo>
                  <a:lnTo>
                    <a:pt x="7088251" y="151003"/>
                  </a:lnTo>
                  <a:lnTo>
                    <a:pt x="7071360" y="15100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BA0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47104" y="2523744"/>
            <a:ext cx="5303520" cy="1316736"/>
            <a:chOff x="0" y="0"/>
            <a:chExt cx="7071360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42875"/>
              <a:ext cx="7071360" cy="189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b="true" sz="7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~50%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47104" y="3877056"/>
            <a:ext cx="5303520" cy="841248"/>
            <a:chOff x="0" y="0"/>
            <a:chExt cx="7071360" cy="11216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7071360" cy="1226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Cases undiagnosed</a:t>
              </a:r>
            </a:p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until complications arise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58551" y="2328167"/>
            <a:ext cx="5328923" cy="2549147"/>
            <a:chOff x="0" y="0"/>
            <a:chExt cx="7105231" cy="33988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07136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463F3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05142" cy="3398774"/>
            </a:xfrm>
            <a:custGeom>
              <a:avLst/>
              <a:gdLst/>
              <a:ahLst/>
              <a:cxnLst/>
              <a:rect r="r" b="b" t="t" l="l"/>
              <a:pathLst>
                <a:path h="3398774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81883"/>
                  </a:lnTo>
                  <a:cubicBezTo>
                    <a:pt x="7105142" y="3391281"/>
                    <a:pt x="7097522" y="3398774"/>
                    <a:pt x="7088251" y="3398774"/>
                  </a:cubicBezTo>
                  <a:lnTo>
                    <a:pt x="16891" y="3398774"/>
                  </a:lnTo>
                  <a:cubicBezTo>
                    <a:pt x="7493" y="3398774"/>
                    <a:pt x="0" y="3391154"/>
                    <a:pt x="0" y="33818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81883"/>
                  </a:lnTo>
                  <a:lnTo>
                    <a:pt x="16891" y="3381883"/>
                  </a:lnTo>
                  <a:lnTo>
                    <a:pt x="16891" y="3364992"/>
                  </a:lnTo>
                  <a:lnTo>
                    <a:pt x="7088251" y="3364992"/>
                  </a:lnTo>
                  <a:lnTo>
                    <a:pt x="7088251" y="3381883"/>
                  </a:lnTo>
                  <a:lnTo>
                    <a:pt x="7071360" y="338188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95B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258551" y="2328167"/>
            <a:ext cx="5328923" cy="125987"/>
            <a:chOff x="0" y="0"/>
            <a:chExt cx="7105231" cy="1679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071360" cy="134112"/>
            </a:xfrm>
            <a:custGeom>
              <a:avLst/>
              <a:gdLst/>
              <a:ahLst/>
              <a:cxnLst/>
              <a:rect r="r" b="b" t="t" l="l"/>
              <a:pathLst>
                <a:path h="13411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475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05142" cy="167896"/>
            </a:xfrm>
            <a:custGeom>
              <a:avLst/>
              <a:gdLst/>
              <a:ahLst/>
              <a:cxnLst/>
              <a:rect r="r" b="b" t="t" l="l"/>
              <a:pathLst>
                <a:path h="16789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51003"/>
                  </a:lnTo>
                  <a:cubicBezTo>
                    <a:pt x="7105142" y="160401"/>
                    <a:pt x="7097522" y="167894"/>
                    <a:pt x="708825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088251" y="134112"/>
                  </a:lnTo>
                  <a:lnTo>
                    <a:pt x="7088251" y="151003"/>
                  </a:lnTo>
                  <a:lnTo>
                    <a:pt x="7071360" y="15100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75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71248" y="2523744"/>
            <a:ext cx="5303520" cy="1316736"/>
            <a:chOff x="0" y="0"/>
            <a:chExt cx="7071360" cy="1755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42875"/>
              <a:ext cx="7071360" cy="189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b="true" sz="7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17.9M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71248" y="3877056"/>
            <a:ext cx="5303520" cy="841248"/>
            <a:chOff x="0" y="0"/>
            <a:chExt cx="7071360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713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7071360" cy="1226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Deaths from CVD</a:t>
              </a:r>
            </a:p>
            <a:p>
              <a:pPr algn="ctr">
                <a:lnSpc>
                  <a:spcPts val="2964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year (WHO)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-332267">
            <a:off x="8335805" y="6231594"/>
            <a:ext cx="1616390" cy="923228"/>
          </a:xfrm>
          <a:custGeom>
            <a:avLst/>
            <a:gdLst/>
            <a:ahLst/>
            <a:cxnLst/>
            <a:rect r="r" b="b" t="t" l="l"/>
            <a:pathLst>
              <a:path h="923228" w="1616390">
                <a:moveTo>
                  <a:pt x="0" y="0"/>
                </a:moveTo>
                <a:lnTo>
                  <a:pt x="1616390" y="0"/>
                </a:lnTo>
                <a:lnTo>
                  <a:pt x="1616390" y="923228"/>
                </a:lnTo>
                <a:lnTo>
                  <a:pt x="0" y="9232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2184418" y="5951597"/>
            <a:ext cx="6072014" cy="2406451"/>
            <a:chOff x="0" y="0"/>
            <a:chExt cx="8096018" cy="3208601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28575"/>
              <a:ext cx="8096018" cy="47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b="true" sz="2197" spc="329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THE PROBLEM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641610"/>
              <a:ext cx="8096018" cy="2566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59"/>
                </a:lnSpc>
              </a:pPr>
            </a:p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• Lab tests (HbA1c, fast</a:t>
              </a: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ing glucose) are costly</a:t>
              </a:r>
            </a:p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• ~50% diabetic cases missed by conventional screening</a:t>
              </a:r>
            </a:p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• Rural India lacks accessible diagnostic infrastructure</a:t>
              </a:r>
            </a:p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• CVD symptoms often unnoticed until severe</a:t>
              </a:r>
            </a:p>
            <a:p>
              <a:pPr algn="ctr">
                <a:lnSpc>
                  <a:spcPts val="25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99718" y="5961122"/>
            <a:ext cx="6072014" cy="2082601"/>
            <a:chOff x="0" y="0"/>
            <a:chExt cx="8096018" cy="2776801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-28575"/>
              <a:ext cx="8096018" cy="47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b="true" sz="2197" spc="329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OUR SOLUTION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641610"/>
              <a:ext cx="8096018" cy="2135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• Insta</a:t>
              </a: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nt, low-cost prediagnostic web screening</a:t>
              </a:r>
            </a:p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• Dual-disease coverage (Diabetes + CVD) in one tool</a:t>
              </a:r>
            </a:p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• 90.25% accuracy · AUC 0.956 via ML + SMOTE</a:t>
              </a:r>
            </a:p>
            <a:p>
              <a:pPr algn="ctr">
                <a:lnSpc>
                  <a:spcPts val="2559"/>
                </a:lnSpc>
              </a:pPr>
              <a:r>
                <a:rPr lang="en-US" sz="18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• Early intervention reduces complications by 58%</a:t>
              </a:r>
            </a:p>
            <a:p>
              <a:pPr algn="ctr">
                <a:lnSpc>
                  <a:spcPts val="25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C1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365760"/>
            <a:ext cx="16642080" cy="640080"/>
            <a:chOff x="0" y="0"/>
            <a:chExt cx="2218944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89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VERSION EVOLUTION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50976"/>
            <a:ext cx="16642080" cy="841248"/>
            <a:chOff x="0" y="0"/>
            <a:chExt cx="22189440" cy="11216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121664"/>
            </a:xfrm>
            <a:custGeom>
              <a:avLst/>
              <a:gdLst/>
              <a:ahLst/>
              <a:cxnLst/>
              <a:rect r="r" b="b" t="t" l="l"/>
              <a:pathLst>
                <a:path h="112166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464" r="0" b="-3354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single-model script → full-stack dual-disease web app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1998983"/>
            <a:ext cx="7889243" cy="7249163"/>
            <a:chOff x="0" y="0"/>
            <a:chExt cx="10518991" cy="9665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485120" cy="9631681"/>
            </a:xfrm>
            <a:custGeom>
              <a:avLst/>
              <a:gdLst/>
              <a:ahLst/>
              <a:cxnLst/>
              <a:rect r="r" b="b" t="t" l="l"/>
              <a:pathLst>
                <a:path h="9631681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8901" cy="9665462"/>
            </a:xfrm>
            <a:custGeom>
              <a:avLst/>
              <a:gdLst/>
              <a:ahLst/>
              <a:cxnLst/>
              <a:rect r="r" b="b" t="t" l="l"/>
              <a:pathLst>
                <a:path h="966546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9648572"/>
                  </a:lnTo>
                  <a:cubicBezTo>
                    <a:pt x="10518901" y="9657969"/>
                    <a:pt x="10511282" y="9665462"/>
                    <a:pt x="10502011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0502011" y="9631680"/>
                  </a:lnTo>
                  <a:lnTo>
                    <a:pt x="10502011" y="9648572"/>
                  </a:lnTo>
                  <a:lnTo>
                    <a:pt x="10485120" y="9648572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5DF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1998983"/>
            <a:ext cx="7889243" cy="793499"/>
            <a:chOff x="0" y="0"/>
            <a:chExt cx="1051899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C0CCD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CCD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029968"/>
            <a:ext cx="7680960" cy="731520"/>
            <a:chOff x="0" y="0"/>
            <a:chExt cx="1024128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28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v1–v2  ·  OLD VERSION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2962656"/>
            <a:ext cx="7315200" cy="6035040"/>
            <a:chOff x="0" y="0"/>
            <a:chExt cx="9753600" cy="8046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046720"/>
                  </a:lnTo>
                  <a:lnTo>
                    <a:pt x="0" y="8046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t="0" r="-5585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9753600" cy="8151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Single disease: Diabetes only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— 768 samples, no SMOTE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raw features, no engineering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web interface — Jupyter notebook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result persistence or database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visualisation charts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PDF export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Class-imbalanced training data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~76–80%  |  AUC ~0.84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16519" y="1998983"/>
            <a:ext cx="7852667" cy="7249163"/>
            <a:chOff x="0" y="0"/>
            <a:chExt cx="10470223" cy="9665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436352" cy="9631681"/>
            </a:xfrm>
            <a:custGeom>
              <a:avLst/>
              <a:gdLst/>
              <a:ahLst/>
              <a:cxnLst/>
              <a:rect r="r" b="b" t="t" l="l"/>
              <a:pathLst>
                <a:path h="9631681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70135" cy="9665462"/>
            </a:xfrm>
            <a:custGeom>
              <a:avLst/>
              <a:gdLst/>
              <a:ahLst/>
              <a:cxnLst/>
              <a:rect r="r" b="b" t="t" l="l"/>
              <a:pathLst>
                <a:path h="9665462" w="10470135">
                  <a:moveTo>
                    <a:pt x="16891" y="0"/>
                  </a:moveTo>
                  <a:lnTo>
                    <a:pt x="10453243" y="0"/>
                  </a:lnTo>
                  <a:cubicBezTo>
                    <a:pt x="10462641" y="0"/>
                    <a:pt x="10470135" y="7620"/>
                    <a:pt x="10470135" y="16891"/>
                  </a:cubicBezTo>
                  <a:lnTo>
                    <a:pt x="10470135" y="9648572"/>
                  </a:lnTo>
                  <a:cubicBezTo>
                    <a:pt x="10470135" y="9657969"/>
                    <a:pt x="10462514" y="9665462"/>
                    <a:pt x="10453243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0453243" y="9631680"/>
                  </a:lnTo>
                  <a:lnTo>
                    <a:pt x="10453243" y="9648572"/>
                  </a:lnTo>
                  <a:lnTo>
                    <a:pt x="10436352" y="9648572"/>
                  </a:lnTo>
                  <a:lnTo>
                    <a:pt x="10436352" y="16891"/>
                  </a:lnTo>
                  <a:lnTo>
                    <a:pt x="10453243" y="16891"/>
                  </a:lnTo>
                  <a:lnTo>
                    <a:pt x="10453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63F3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16519" y="1998983"/>
            <a:ext cx="7852667" cy="793499"/>
            <a:chOff x="0" y="0"/>
            <a:chExt cx="10470223" cy="1057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43635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8A817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70135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470135">
                  <a:moveTo>
                    <a:pt x="16891" y="0"/>
                  </a:moveTo>
                  <a:lnTo>
                    <a:pt x="10453243" y="0"/>
                  </a:lnTo>
                  <a:cubicBezTo>
                    <a:pt x="10462641" y="0"/>
                    <a:pt x="10470135" y="7620"/>
                    <a:pt x="10470135" y="16891"/>
                  </a:cubicBezTo>
                  <a:lnTo>
                    <a:pt x="10470135" y="1041019"/>
                  </a:lnTo>
                  <a:cubicBezTo>
                    <a:pt x="10470135" y="1050417"/>
                    <a:pt x="10462514" y="1057910"/>
                    <a:pt x="10453243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453243" y="1024128"/>
                  </a:lnTo>
                  <a:lnTo>
                    <a:pt x="10453243" y="1041019"/>
                  </a:lnTo>
                  <a:lnTo>
                    <a:pt x="10436352" y="1041019"/>
                  </a:lnTo>
                  <a:lnTo>
                    <a:pt x="10436352" y="16891"/>
                  </a:lnTo>
                  <a:lnTo>
                    <a:pt x="10453243" y="16891"/>
                  </a:lnTo>
                  <a:lnTo>
                    <a:pt x="10453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63F3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20656" y="2029968"/>
            <a:ext cx="3215587" cy="731520"/>
            <a:chOff x="0" y="0"/>
            <a:chExt cx="428745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87450" cy="975360"/>
            </a:xfrm>
            <a:custGeom>
              <a:avLst/>
              <a:gdLst/>
              <a:ahLst/>
              <a:cxnLst/>
              <a:rect r="r" b="b" t="t" l="l"/>
              <a:pathLst>
                <a:path h="975360" w="4287450">
                  <a:moveTo>
                    <a:pt x="0" y="0"/>
                  </a:moveTo>
                  <a:lnTo>
                    <a:pt x="4287450" y="0"/>
                  </a:lnTo>
                  <a:lnTo>
                    <a:pt x="428745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618" r="-137729" b="-1536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28745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B1D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v3.1  ·  DPS  (CURRENT)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66960" y="2962656"/>
            <a:ext cx="7315200" cy="6035040"/>
            <a:chOff x="0" y="0"/>
            <a:chExt cx="9753600" cy="8046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046720"/>
                  </a:lnTo>
                  <a:lnTo>
                    <a:pt x="0" y="8046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t="0" r="-5585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9753600" cy="8151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Dual disease: Diabetes + Cardiovascular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GradientBoosting + RandomForest, 2000 samples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features (3 engineered: GlucoseAge, BMIAge, InsulinGlucose)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Django 5.x web application (AJAX)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database — all predictions persisted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Radar · Feature Importance · Distribution charts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Branded PDF export via jsPDF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SMOTE balanced (1000 : 1000 per class)</a:t>
              </a:r>
            </a:p>
            <a:p>
              <a:pPr algn="l" marL="482600" indent="-241300" lvl="1">
                <a:lnSpc>
                  <a:spcPts val="3120"/>
                </a:lnSpc>
                <a:buFont typeface="Arial"/>
                <a:buChar char="•"/>
              </a:pPr>
              <a:r>
                <a:rPr lang="en-US" sz="20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90.25% / 82.25%  |  AUC 0.956 / 0.901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739104" y="5009941"/>
            <a:ext cx="846377" cy="1227247"/>
          </a:xfrm>
          <a:custGeom>
            <a:avLst/>
            <a:gdLst/>
            <a:ahLst/>
            <a:cxnLst/>
            <a:rect r="r" b="b" t="t" l="l"/>
            <a:pathLst>
              <a:path h="1227247" w="846377">
                <a:moveTo>
                  <a:pt x="0" y="0"/>
                </a:moveTo>
                <a:lnTo>
                  <a:pt x="846377" y="0"/>
                </a:lnTo>
                <a:lnTo>
                  <a:pt x="846377" y="1227247"/>
                </a:lnTo>
                <a:lnTo>
                  <a:pt x="0" y="1227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26312"/>
            <a:ext cx="16230600" cy="79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b="true" sz="4700">
                <a:solidFill>
                  <a:srgbClr val="463F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</a:t>
            </a:r>
            <a:r>
              <a:rPr lang="en-US" b="true" sz="4700">
                <a:solidFill>
                  <a:srgbClr val="463F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TRAINED CLASSIFIERS — TWO DISEASE MODULES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914447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4114800"/>
                </a:moveTo>
                <a:lnTo>
                  <a:pt x="3718283" y="4114800"/>
                </a:lnTo>
                <a:lnTo>
                  <a:pt x="371828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4164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0"/>
                </a:moveTo>
                <a:lnTo>
                  <a:pt x="0" y="0"/>
                </a:lnTo>
                <a:lnTo>
                  <a:pt x="0" y="4114800"/>
                </a:lnTo>
                <a:lnTo>
                  <a:pt x="3718283" y="4114800"/>
                </a:lnTo>
                <a:lnTo>
                  <a:pt x="3718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484164" y="1028700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610001"/>
                </a:moveTo>
                <a:lnTo>
                  <a:pt x="1775136" y="610001"/>
                </a:lnTo>
                <a:lnTo>
                  <a:pt x="1775136" y="0"/>
                </a:lnTo>
                <a:lnTo>
                  <a:pt x="0" y="0"/>
                </a:lnTo>
                <a:lnTo>
                  <a:pt x="0" y="6100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130900"/>
            <a:ext cx="16642080" cy="640080"/>
            <a:chOff x="0" y="0"/>
            <a:chExt cx="2218944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189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MODELS &amp; DATASETS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09228" y="2870328"/>
            <a:ext cx="6855255" cy="6435597"/>
            <a:chOff x="0" y="0"/>
            <a:chExt cx="11152975" cy="104702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11119104" cy="10436352"/>
            </a:xfrm>
            <a:custGeom>
              <a:avLst/>
              <a:gdLst/>
              <a:ahLst/>
              <a:cxnLst/>
              <a:rect r="r" b="b" t="t" l="l"/>
              <a:pathLst>
                <a:path h="10436352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10436352"/>
                  </a:lnTo>
                  <a:lnTo>
                    <a:pt x="0" y="104363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52886" cy="10470135"/>
            </a:xfrm>
            <a:custGeom>
              <a:avLst/>
              <a:gdLst/>
              <a:ahLst/>
              <a:cxnLst/>
              <a:rect r="r" b="b" t="t" l="l"/>
              <a:pathLst>
                <a:path h="10470135" w="11152886">
                  <a:moveTo>
                    <a:pt x="16891" y="0"/>
                  </a:moveTo>
                  <a:lnTo>
                    <a:pt x="11135995" y="0"/>
                  </a:lnTo>
                  <a:cubicBezTo>
                    <a:pt x="11145393" y="0"/>
                    <a:pt x="11152886" y="7620"/>
                    <a:pt x="11152886" y="16891"/>
                  </a:cubicBezTo>
                  <a:lnTo>
                    <a:pt x="11152886" y="10453243"/>
                  </a:lnTo>
                  <a:cubicBezTo>
                    <a:pt x="11152886" y="10462641"/>
                    <a:pt x="11145265" y="10470135"/>
                    <a:pt x="11135995" y="10470135"/>
                  </a:cubicBezTo>
                  <a:lnTo>
                    <a:pt x="16891" y="10470135"/>
                  </a:lnTo>
                  <a:cubicBezTo>
                    <a:pt x="7493" y="10470135"/>
                    <a:pt x="0" y="10462514"/>
                    <a:pt x="0" y="104532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53243"/>
                  </a:lnTo>
                  <a:lnTo>
                    <a:pt x="16891" y="10453243"/>
                  </a:lnTo>
                  <a:lnTo>
                    <a:pt x="16891" y="10436352"/>
                  </a:lnTo>
                  <a:lnTo>
                    <a:pt x="11135995" y="10436352"/>
                  </a:lnTo>
                  <a:lnTo>
                    <a:pt x="11135995" y="10453243"/>
                  </a:lnTo>
                  <a:lnTo>
                    <a:pt x="11119103" y="10453243"/>
                  </a:lnTo>
                  <a:lnTo>
                    <a:pt x="11119103" y="16891"/>
                  </a:lnTo>
                  <a:lnTo>
                    <a:pt x="11135995" y="16891"/>
                  </a:lnTo>
                  <a:lnTo>
                    <a:pt x="111359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63F3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09228" y="2870328"/>
            <a:ext cx="6855255" cy="770209"/>
            <a:chOff x="0" y="0"/>
            <a:chExt cx="11152975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11191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8A817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528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1152886">
                  <a:moveTo>
                    <a:pt x="16891" y="0"/>
                  </a:moveTo>
                  <a:lnTo>
                    <a:pt x="11135995" y="0"/>
                  </a:lnTo>
                  <a:cubicBezTo>
                    <a:pt x="11145393" y="0"/>
                    <a:pt x="11152886" y="7620"/>
                    <a:pt x="11152886" y="16891"/>
                  </a:cubicBezTo>
                  <a:lnTo>
                    <a:pt x="11152886" y="1236091"/>
                  </a:lnTo>
                  <a:cubicBezTo>
                    <a:pt x="11152886" y="1245489"/>
                    <a:pt x="11145265" y="1252982"/>
                    <a:pt x="111359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1135995" y="1219200"/>
                  </a:lnTo>
                  <a:lnTo>
                    <a:pt x="11135995" y="1236091"/>
                  </a:lnTo>
                  <a:lnTo>
                    <a:pt x="11119103" y="1236091"/>
                  </a:lnTo>
                  <a:lnTo>
                    <a:pt x="11119103" y="16891"/>
                  </a:lnTo>
                  <a:lnTo>
                    <a:pt x="11135995" y="16891"/>
                  </a:lnTo>
                  <a:lnTo>
                    <a:pt x="111359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63F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69511" y="3000636"/>
            <a:ext cx="494597" cy="494597"/>
            <a:chOff x="0" y="0"/>
            <a:chExt cx="804672" cy="80467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69023" y="2970661"/>
            <a:ext cx="5845241" cy="569536"/>
            <a:chOff x="0" y="0"/>
            <a:chExt cx="950976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926592"/>
            </a:xfrm>
            <a:custGeom>
              <a:avLst/>
              <a:gdLst/>
              <a:ahLst/>
              <a:cxnLst/>
              <a:rect r="r" b="b" t="t" l="l"/>
              <a:pathLst>
                <a:path h="9265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978" r="0" b="-14997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5097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B1D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DIABETES MODULE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29130" y="3799572"/>
            <a:ext cx="6615450" cy="590355"/>
            <a:chOff x="0" y="0"/>
            <a:chExt cx="10762831" cy="9604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29462" y="3869929"/>
            <a:ext cx="2323109" cy="419658"/>
            <a:chOff x="0" y="0"/>
            <a:chExt cx="37795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42498" y="3869929"/>
            <a:ext cx="4076681" cy="419658"/>
            <a:chOff x="0" y="0"/>
            <a:chExt cx="6632448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 Boosting Classifier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429462" y="4439465"/>
            <a:ext cx="2323109" cy="419658"/>
            <a:chOff x="0" y="0"/>
            <a:chExt cx="377952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42498" y="4439465"/>
            <a:ext cx="4076681" cy="419658"/>
            <a:chOff x="0" y="0"/>
            <a:chExt cx="6632448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Pima Indians — UCI ML Repo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329130" y="4938645"/>
            <a:ext cx="6615450" cy="590355"/>
            <a:chOff x="0" y="0"/>
            <a:chExt cx="10762831" cy="9604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429462" y="5009001"/>
            <a:ext cx="2323109" cy="419658"/>
            <a:chOff x="0" y="0"/>
            <a:chExt cx="377952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842498" y="5009001"/>
            <a:ext cx="4076681" cy="419658"/>
            <a:chOff x="0" y="0"/>
            <a:chExt cx="6632448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2,000 (SMOTE — 1k : 1k)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29462" y="5578538"/>
            <a:ext cx="2323109" cy="419658"/>
            <a:chOff x="0" y="0"/>
            <a:chExt cx="377952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42498" y="5578538"/>
            <a:ext cx="4076681" cy="419658"/>
            <a:chOff x="0" y="0"/>
            <a:chExt cx="6632448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raw + 3 engineered = 11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29130" y="6077717"/>
            <a:ext cx="6615450" cy="590355"/>
            <a:chOff x="0" y="0"/>
            <a:chExt cx="10762831" cy="9604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429462" y="6148074"/>
            <a:ext cx="2323109" cy="419658"/>
            <a:chOff x="0" y="0"/>
            <a:chExt cx="377952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842498" y="6148074"/>
            <a:ext cx="4076681" cy="419658"/>
            <a:chOff x="0" y="0"/>
            <a:chExt cx="6632448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GlucoseAge · BMIAge · InsulinGlucose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429462" y="6717610"/>
            <a:ext cx="2323109" cy="419658"/>
            <a:chOff x="0" y="0"/>
            <a:chExt cx="377952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n_estimators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842498" y="6717610"/>
            <a:ext cx="4076681" cy="419658"/>
            <a:chOff x="0" y="0"/>
            <a:chExt cx="6632448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250  |  max_depth: 5  |  lr: 0.08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329130" y="7216790"/>
            <a:ext cx="6615450" cy="590355"/>
            <a:chOff x="0" y="0"/>
            <a:chExt cx="10762831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429462" y="7287147"/>
            <a:ext cx="2323109" cy="419658"/>
            <a:chOff x="0" y="0"/>
            <a:chExt cx="377952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Accuracy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842498" y="7287147"/>
            <a:ext cx="4076681" cy="419658"/>
            <a:chOff x="0" y="0"/>
            <a:chExt cx="6632448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90.25%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429462" y="7856683"/>
            <a:ext cx="2323109" cy="419658"/>
            <a:chOff x="0" y="0"/>
            <a:chExt cx="377952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ROC-AUC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842498" y="7856683"/>
            <a:ext cx="4076681" cy="419658"/>
            <a:chOff x="0" y="0"/>
            <a:chExt cx="6632448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0.9557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329130" y="8355863"/>
            <a:ext cx="6615450" cy="590355"/>
            <a:chOff x="0" y="0"/>
            <a:chExt cx="10762831" cy="96046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2429462" y="8426219"/>
            <a:ext cx="2323109" cy="419658"/>
            <a:chOff x="0" y="0"/>
            <a:chExt cx="377952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Feature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842498" y="8426219"/>
            <a:ext cx="4076681" cy="419658"/>
            <a:chOff x="0" y="0"/>
            <a:chExt cx="6632448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GlucoseAge — 32.34% importance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223517" y="2870328"/>
            <a:ext cx="6855255" cy="6435597"/>
            <a:chOff x="0" y="0"/>
            <a:chExt cx="11152975" cy="1047022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1119104" cy="10436352"/>
            </a:xfrm>
            <a:custGeom>
              <a:avLst/>
              <a:gdLst/>
              <a:ahLst/>
              <a:cxnLst/>
              <a:rect r="r" b="b" t="t" l="l"/>
              <a:pathLst>
                <a:path h="10436352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10436352"/>
                  </a:lnTo>
                  <a:lnTo>
                    <a:pt x="0" y="104363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152886" cy="10470135"/>
            </a:xfrm>
            <a:custGeom>
              <a:avLst/>
              <a:gdLst/>
              <a:ahLst/>
              <a:cxnLst/>
              <a:rect r="r" b="b" t="t" l="l"/>
              <a:pathLst>
                <a:path h="10470135" w="11152886">
                  <a:moveTo>
                    <a:pt x="16891" y="0"/>
                  </a:moveTo>
                  <a:lnTo>
                    <a:pt x="11135995" y="0"/>
                  </a:lnTo>
                  <a:cubicBezTo>
                    <a:pt x="11145393" y="0"/>
                    <a:pt x="11152886" y="7620"/>
                    <a:pt x="11152886" y="16891"/>
                  </a:cubicBezTo>
                  <a:lnTo>
                    <a:pt x="11152886" y="10453243"/>
                  </a:lnTo>
                  <a:cubicBezTo>
                    <a:pt x="11152886" y="10462641"/>
                    <a:pt x="11145265" y="10470135"/>
                    <a:pt x="11135995" y="10470135"/>
                  </a:cubicBezTo>
                  <a:lnTo>
                    <a:pt x="16891" y="10470135"/>
                  </a:lnTo>
                  <a:cubicBezTo>
                    <a:pt x="7493" y="10470135"/>
                    <a:pt x="0" y="10462514"/>
                    <a:pt x="0" y="104532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53243"/>
                  </a:lnTo>
                  <a:lnTo>
                    <a:pt x="16891" y="10453243"/>
                  </a:lnTo>
                  <a:lnTo>
                    <a:pt x="16891" y="10436352"/>
                  </a:lnTo>
                  <a:lnTo>
                    <a:pt x="11135995" y="10436352"/>
                  </a:lnTo>
                  <a:lnTo>
                    <a:pt x="11135995" y="10453243"/>
                  </a:lnTo>
                  <a:lnTo>
                    <a:pt x="11119103" y="10453243"/>
                  </a:lnTo>
                  <a:lnTo>
                    <a:pt x="11119103" y="16891"/>
                  </a:lnTo>
                  <a:lnTo>
                    <a:pt x="11135995" y="16891"/>
                  </a:lnTo>
                  <a:lnTo>
                    <a:pt x="111359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63F3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223517" y="2870328"/>
            <a:ext cx="6855255" cy="770209"/>
            <a:chOff x="0" y="0"/>
            <a:chExt cx="11152975" cy="12530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11191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B2988B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1528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1152886">
                  <a:moveTo>
                    <a:pt x="16891" y="0"/>
                  </a:moveTo>
                  <a:lnTo>
                    <a:pt x="11135995" y="0"/>
                  </a:lnTo>
                  <a:cubicBezTo>
                    <a:pt x="11145393" y="0"/>
                    <a:pt x="11152886" y="7620"/>
                    <a:pt x="11152886" y="16891"/>
                  </a:cubicBezTo>
                  <a:lnTo>
                    <a:pt x="11152886" y="1236091"/>
                  </a:lnTo>
                  <a:cubicBezTo>
                    <a:pt x="11152886" y="1245489"/>
                    <a:pt x="11145265" y="1252982"/>
                    <a:pt x="111359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1135995" y="1219200"/>
                  </a:lnTo>
                  <a:lnTo>
                    <a:pt x="11135995" y="1236091"/>
                  </a:lnTo>
                  <a:lnTo>
                    <a:pt x="11119103" y="1236091"/>
                  </a:lnTo>
                  <a:lnTo>
                    <a:pt x="11119103" y="16891"/>
                  </a:lnTo>
                  <a:lnTo>
                    <a:pt x="11135995" y="16891"/>
                  </a:lnTo>
                  <a:lnTo>
                    <a:pt x="111359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63F3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383801" y="3015624"/>
            <a:ext cx="479610" cy="479610"/>
            <a:chOff x="0" y="0"/>
            <a:chExt cx="780288" cy="780288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983313" y="2970661"/>
            <a:ext cx="5845241" cy="569536"/>
            <a:chOff x="0" y="0"/>
            <a:chExt cx="9509760" cy="92659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509760" cy="926592"/>
            </a:xfrm>
            <a:custGeom>
              <a:avLst/>
              <a:gdLst/>
              <a:ahLst/>
              <a:cxnLst/>
              <a:rect r="r" b="b" t="t" l="l"/>
              <a:pathLst>
                <a:path h="9265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978" r="0" b="-14997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5097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HEART DISEASE MODULE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43420" y="3799572"/>
            <a:ext cx="6615450" cy="590355"/>
            <a:chOff x="0" y="0"/>
            <a:chExt cx="10762831" cy="96046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443752" y="3869929"/>
            <a:ext cx="2323109" cy="419658"/>
            <a:chOff x="0" y="0"/>
            <a:chExt cx="377952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856788" y="3869929"/>
            <a:ext cx="4076681" cy="419658"/>
            <a:chOff x="0" y="0"/>
            <a:chExt cx="6632448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Classifier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443752" y="4439465"/>
            <a:ext cx="2323109" cy="419658"/>
            <a:chOff x="0" y="0"/>
            <a:chExt cx="377952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856788" y="4439465"/>
            <a:ext cx="4076681" cy="419658"/>
            <a:chOff x="0" y="0"/>
            <a:chExt cx="6632448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Synthetic — Framingham/Cleveland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343420" y="4938645"/>
            <a:ext cx="6615450" cy="590355"/>
            <a:chOff x="0" y="0"/>
            <a:chExt cx="10762831" cy="96046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443752" y="5009001"/>
            <a:ext cx="2323109" cy="419658"/>
            <a:chOff x="0" y="0"/>
            <a:chExt cx="3779520" cy="6827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856788" y="5009001"/>
            <a:ext cx="4076681" cy="419658"/>
            <a:chOff x="0" y="0"/>
            <a:chExt cx="6632448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2,000 (SMOTE+undersampling)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443752" y="5578538"/>
            <a:ext cx="2323109" cy="419658"/>
            <a:chOff x="0" y="0"/>
            <a:chExt cx="3779520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856788" y="5578538"/>
            <a:ext cx="4076681" cy="419658"/>
            <a:chOff x="0" y="0"/>
            <a:chExt cx="6632448" cy="68275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clinical parameters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343420" y="6077717"/>
            <a:ext cx="6615450" cy="590355"/>
            <a:chOff x="0" y="0"/>
            <a:chExt cx="10762831" cy="960463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443752" y="6148074"/>
            <a:ext cx="2323109" cy="419658"/>
            <a:chOff x="0" y="0"/>
            <a:chExt cx="3779520" cy="68275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856788" y="6148074"/>
            <a:ext cx="4076681" cy="419658"/>
            <a:chOff x="0" y="0"/>
            <a:chExt cx="6632448" cy="68275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 · CP type · Thalach · Oldpeak · CA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443752" y="6717610"/>
            <a:ext cx="2323109" cy="419658"/>
            <a:chOff x="0" y="0"/>
            <a:chExt cx="3779520" cy="68275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n_estimators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1856788" y="6717610"/>
            <a:ext cx="4076681" cy="419658"/>
            <a:chOff x="0" y="0"/>
            <a:chExt cx="6632448" cy="68275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300  |  max_depth: 12  |  balanced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343420" y="7216790"/>
            <a:ext cx="6615450" cy="590355"/>
            <a:chOff x="0" y="0"/>
            <a:chExt cx="10762831" cy="96046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43752" y="7287147"/>
            <a:ext cx="2323109" cy="419658"/>
            <a:chOff x="0" y="0"/>
            <a:chExt cx="3779520" cy="682752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Accuracy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1856788" y="7287147"/>
            <a:ext cx="4076681" cy="419658"/>
            <a:chOff x="0" y="0"/>
            <a:chExt cx="6632448" cy="68275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82.25%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443752" y="7856683"/>
            <a:ext cx="2323109" cy="419658"/>
            <a:chOff x="0" y="0"/>
            <a:chExt cx="3779520" cy="68275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ROC-AUC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1856788" y="7856683"/>
            <a:ext cx="4076681" cy="419658"/>
            <a:chOff x="0" y="0"/>
            <a:chExt cx="6632448" cy="68275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0.9007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343420" y="8355863"/>
            <a:ext cx="6615450" cy="590355"/>
            <a:chOff x="0" y="0"/>
            <a:chExt cx="10762831" cy="960463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16891" y="16891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EF3FB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762742" cy="960376"/>
            </a:xfrm>
            <a:custGeom>
              <a:avLst/>
              <a:gdLst/>
              <a:ahLst/>
              <a:cxnLst/>
              <a:rect r="r" b="b" t="t" l="l"/>
              <a:pathLst>
                <a:path h="960376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43483"/>
                  </a:lnTo>
                  <a:cubicBezTo>
                    <a:pt x="10762742" y="952881"/>
                    <a:pt x="10755122" y="960374"/>
                    <a:pt x="10745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745851" y="926592"/>
                  </a:lnTo>
                  <a:lnTo>
                    <a:pt x="10745851" y="943483"/>
                  </a:lnTo>
                  <a:lnTo>
                    <a:pt x="10728960" y="94348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F3FB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9443752" y="8426219"/>
            <a:ext cx="2323109" cy="419658"/>
            <a:chOff x="0" y="0"/>
            <a:chExt cx="3779520" cy="68275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4A6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Feature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1856788" y="8426219"/>
            <a:ext cx="4076681" cy="419658"/>
            <a:chOff x="0" y="0"/>
            <a:chExt cx="6632448" cy="68275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66324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28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 (major vessels) — highest importance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0"/>
                </a:moveTo>
                <a:lnTo>
                  <a:pt x="1775136" y="0"/>
                </a:lnTo>
                <a:lnTo>
                  <a:pt x="1775136" y="610001"/>
                </a:lnTo>
                <a:lnTo>
                  <a:pt x="0" y="61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84164" y="8648299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610001"/>
                </a:moveTo>
                <a:lnTo>
                  <a:pt x="1775136" y="610001"/>
                </a:lnTo>
                <a:lnTo>
                  <a:pt x="1775136" y="0"/>
                </a:lnTo>
                <a:lnTo>
                  <a:pt x="0" y="0"/>
                </a:lnTo>
                <a:lnTo>
                  <a:pt x="0" y="6100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14447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84164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718283" y="0"/>
                </a:lnTo>
                <a:lnTo>
                  <a:pt x="371828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211601" y="1028700"/>
            <a:ext cx="2047699" cy="2047699"/>
          </a:xfrm>
          <a:custGeom>
            <a:avLst/>
            <a:gdLst/>
            <a:ahLst/>
            <a:cxnLst/>
            <a:rect r="r" b="b" t="t" l="l"/>
            <a:pathLst>
              <a:path h="2047699" w="2047699">
                <a:moveTo>
                  <a:pt x="2047699" y="2047699"/>
                </a:moveTo>
                <a:lnTo>
                  <a:pt x="0" y="2047699"/>
                </a:lnTo>
                <a:lnTo>
                  <a:pt x="0" y="0"/>
                </a:lnTo>
                <a:lnTo>
                  <a:pt x="2047699" y="0"/>
                </a:lnTo>
                <a:lnTo>
                  <a:pt x="2047699" y="204769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22960" y="365760"/>
            <a:ext cx="16642080" cy="640080"/>
            <a:chOff x="0" y="0"/>
            <a:chExt cx="2218944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189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50976"/>
            <a:ext cx="16642080" cy="841248"/>
            <a:chOff x="0" y="0"/>
            <a:chExt cx="22189440" cy="1121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9439" cy="1121664"/>
            </a:xfrm>
            <a:custGeom>
              <a:avLst/>
              <a:gdLst/>
              <a:ahLst/>
              <a:cxnLst/>
              <a:rect r="r" b="b" t="t" l="l"/>
              <a:pathLst>
                <a:path h="112166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5464" r="0" b="-3354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218944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Django MVT — 4-Layer Stack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8823" y="2181863"/>
            <a:ext cx="16850363" cy="1451867"/>
            <a:chOff x="0" y="0"/>
            <a:chExt cx="22467151" cy="19358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A817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8823" y="2181863"/>
            <a:ext cx="153419" cy="1451867"/>
            <a:chOff x="0" y="0"/>
            <a:chExt cx="204559" cy="19358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05840" y="2487168"/>
            <a:ext cx="804672" cy="804672"/>
            <a:chOff x="0" y="0"/>
            <a:chExt cx="1072896" cy="107289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048256" y="2304288"/>
            <a:ext cx="4572000" cy="548640"/>
            <a:chOff x="0" y="0"/>
            <a:chExt cx="60960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096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Layer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048256" y="2852928"/>
            <a:ext cx="14630400" cy="585216"/>
            <a:chOff x="0" y="0"/>
            <a:chExt cx="1950720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50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index.html  ·  Chart.js  ·  jsPDF  ·  Web Audio API  ·  CSS Day/Night mode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263623" y="2511047"/>
            <a:ext cx="793499" cy="793499"/>
            <a:chOff x="0" y="0"/>
            <a:chExt cx="1057999" cy="10579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5AC8F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5AC8F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276320" y="2542032"/>
            <a:ext cx="768096" cy="694944"/>
            <a:chOff x="0" y="0"/>
            <a:chExt cx="1024128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2412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B1D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8823" y="3900935"/>
            <a:ext cx="16850363" cy="1451867"/>
            <a:chOff x="0" y="0"/>
            <a:chExt cx="22467151" cy="19358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695B51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8823" y="3900935"/>
            <a:ext cx="153419" cy="1451867"/>
            <a:chOff x="0" y="0"/>
            <a:chExt cx="204559" cy="19358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05840" y="4206240"/>
            <a:ext cx="804672" cy="804672"/>
            <a:chOff x="0" y="0"/>
            <a:chExt cx="1072896" cy="1072896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48256" y="4023360"/>
            <a:ext cx="4572000" cy="548640"/>
            <a:chOff x="0" y="0"/>
            <a:chExt cx="60960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096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 Layer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48256" y="4572000"/>
            <a:ext cx="14630400" cy="585216"/>
            <a:chOff x="0" y="0"/>
            <a:chExt cx="19507200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950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views.py  ·  forms.py  ·  urls.py  ·  AJAX JsonResponse  ·  Django ORM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263623" y="4230119"/>
            <a:ext cx="793499" cy="793499"/>
            <a:chOff x="0" y="0"/>
            <a:chExt cx="1057999" cy="10579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0C9A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0C9A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276320" y="4261104"/>
            <a:ext cx="768096" cy="694944"/>
            <a:chOff x="0" y="0"/>
            <a:chExt cx="1024128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2412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B1D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8823" y="5620007"/>
            <a:ext cx="16850363" cy="1451867"/>
            <a:chOff x="0" y="0"/>
            <a:chExt cx="22467151" cy="19358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463F3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18823" y="5620007"/>
            <a:ext cx="153419" cy="1451867"/>
            <a:chOff x="0" y="0"/>
            <a:chExt cx="204559" cy="19358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05840" y="5925312"/>
            <a:ext cx="804672" cy="804672"/>
            <a:chOff x="0" y="0"/>
            <a:chExt cx="1072896" cy="1072896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048256" y="5742432"/>
            <a:ext cx="4572000" cy="548640"/>
            <a:chOff x="0" y="0"/>
            <a:chExt cx="60960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096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Service Layer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048256" y="6291072"/>
            <a:ext cx="14630400" cy="585216"/>
            <a:chOff x="0" y="0"/>
            <a:chExt cx="1950720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50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950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ml_service.py  ·  GradientBoosting  ·  RandomForest  ·  StandardScaler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263623" y="5949191"/>
            <a:ext cx="793499" cy="793499"/>
            <a:chOff x="0" y="0"/>
            <a:chExt cx="1057999" cy="105799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6276320" y="5980176"/>
            <a:ext cx="768096" cy="694944"/>
            <a:chOff x="0" y="0"/>
            <a:chExt cx="1024128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4128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02412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B1D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18823" y="7339079"/>
            <a:ext cx="16850363" cy="1451867"/>
            <a:chOff x="0" y="0"/>
            <a:chExt cx="22467151" cy="193582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2433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39332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46706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918843"/>
                  </a:lnTo>
                  <a:cubicBezTo>
                    <a:pt x="22467063" y="1928241"/>
                    <a:pt x="22459443" y="1935734"/>
                    <a:pt x="224501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450171" y="1901952"/>
                  </a:lnTo>
                  <a:lnTo>
                    <a:pt x="22450171" y="1918843"/>
                  </a:lnTo>
                  <a:lnTo>
                    <a:pt x="22433280" y="191884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18823" y="7339079"/>
            <a:ext cx="153419" cy="1451867"/>
            <a:chOff x="0" y="0"/>
            <a:chExt cx="204559" cy="193582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05840" y="7644384"/>
            <a:ext cx="804672" cy="804672"/>
            <a:chOff x="0" y="0"/>
            <a:chExt cx="1072896" cy="1072896"/>
          </a:xfrm>
        </p:grpSpPr>
        <p:sp>
          <p:nvSpPr>
            <p:cNvPr name="Freeform 80" id="80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2048256" y="7461504"/>
            <a:ext cx="4572000" cy="548640"/>
            <a:chOff x="0" y="0"/>
            <a:chExt cx="609600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6096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Layer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048256" y="8010144"/>
            <a:ext cx="14630400" cy="585216"/>
            <a:chOff x="0" y="0"/>
            <a:chExt cx="19507200" cy="78028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50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950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8D6E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SQLite3  ·  PredictionRecord model  ·  JSONField  ·  Auto-timestamp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263623" y="7668263"/>
            <a:ext cx="793499" cy="793499"/>
            <a:chOff x="0" y="0"/>
            <a:chExt cx="1057999" cy="10579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FFBA08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6276320" y="7699248"/>
            <a:ext cx="768096" cy="694944"/>
            <a:chOff x="0" y="0"/>
            <a:chExt cx="1024128" cy="9265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4128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102412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B1D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814816" y="3474720"/>
            <a:ext cx="658368" cy="219456"/>
            <a:chOff x="0" y="0"/>
            <a:chExt cx="877824" cy="29260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77824" cy="292608"/>
            </a:xfrm>
            <a:custGeom>
              <a:avLst/>
              <a:gdLst/>
              <a:ahLst/>
              <a:cxnLst/>
              <a:rect r="r" b="b" t="t" l="l"/>
              <a:pathLst>
                <a:path h="29260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77824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8814816" y="5193792"/>
            <a:ext cx="658368" cy="219456"/>
            <a:chOff x="0" y="0"/>
            <a:chExt cx="877824" cy="29260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7824" cy="292608"/>
            </a:xfrm>
            <a:custGeom>
              <a:avLst/>
              <a:gdLst/>
              <a:ahLst/>
              <a:cxnLst/>
              <a:rect r="r" b="b" t="t" l="l"/>
              <a:pathLst>
                <a:path h="29260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877824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814816" y="6912864"/>
            <a:ext cx="658368" cy="219456"/>
            <a:chOff x="0" y="0"/>
            <a:chExt cx="877824" cy="29260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7824" cy="292608"/>
            </a:xfrm>
            <a:custGeom>
              <a:avLst/>
              <a:gdLst/>
              <a:ahLst/>
              <a:cxnLst/>
              <a:rect r="r" b="b" t="t" l="l"/>
              <a:pathLst>
                <a:path h="292608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877824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914447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4114800"/>
                </a:moveTo>
                <a:lnTo>
                  <a:pt x="3718283" y="4114800"/>
                </a:lnTo>
                <a:lnTo>
                  <a:pt x="371828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484164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0"/>
                </a:moveTo>
                <a:lnTo>
                  <a:pt x="0" y="0"/>
                </a:lnTo>
                <a:lnTo>
                  <a:pt x="0" y="4114800"/>
                </a:lnTo>
                <a:lnTo>
                  <a:pt x="3718283" y="4114800"/>
                </a:lnTo>
                <a:lnTo>
                  <a:pt x="37182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648299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0"/>
                </a:moveTo>
                <a:lnTo>
                  <a:pt x="1775136" y="0"/>
                </a:lnTo>
                <a:lnTo>
                  <a:pt x="1775136" y="610001"/>
                </a:lnTo>
                <a:lnTo>
                  <a:pt x="0" y="610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22960" y="329184"/>
            <a:ext cx="16642080" cy="585216"/>
            <a:chOff x="0" y="0"/>
            <a:chExt cx="22189440" cy="780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780288"/>
            </a:xfrm>
            <a:custGeom>
              <a:avLst/>
              <a:gdLst/>
              <a:ahLst/>
              <a:cxnLst/>
              <a:rect r="r" b="b" t="t" l="l"/>
              <a:pathLst>
                <a:path h="78028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04105" r="0" b="-5041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89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77824"/>
            <a:ext cx="16642080" cy="804672"/>
            <a:chOff x="0" y="0"/>
            <a:chExt cx="2218944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52986" r="0" b="-35298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1894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Accuracy, ROC-AUC &amp; Feature Importance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552937" y="608779"/>
            <a:ext cx="12359063" cy="9010407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383628" y="1260441"/>
            <a:ext cx="8301642" cy="8020627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682247" y="8619239"/>
            <a:ext cx="4085339" cy="1159259"/>
            <a:chOff x="0" y="0"/>
            <a:chExt cx="5447119" cy="15456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4132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C9A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470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528699"/>
                  </a:lnTo>
                  <a:cubicBezTo>
                    <a:pt x="5447030" y="1538097"/>
                    <a:pt x="5439410" y="1545590"/>
                    <a:pt x="54301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430139" y="1511808"/>
                  </a:lnTo>
                  <a:lnTo>
                    <a:pt x="5430139" y="1528699"/>
                  </a:lnTo>
                  <a:lnTo>
                    <a:pt x="5413248" y="15286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A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4944" y="8668512"/>
            <a:ext cx="4059936" cy="548640"/>
            <a:chOff x="0" y="0"/>
            <a:chExt cx="5413248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41324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90.25%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4944" y="9217152"/>
            <a:ext cx="4059936" cy="475488"/>
            <a:chOff x="0" y="0"/>
            <a:chExt cx="5413248" cy="6339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41324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Accuracy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71367" y="8619239"/>
            <a:ext cx="4085339" cy="1159259"/>
            <a:chOff x="0" y="0"/>
            <a:chExt cx="5447119" cy="15456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54132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9E8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470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528699"/>
                  </a:lnTo>
                  <a:cubicBezTo>
                    <a:pt x="5447030" y="1538097"/>
                    <a:pt x="5439410" y="1545590"/>
                    <a:pt x="54301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430139" y="1511808"/>
                  </a:lnTo>
                  <a:lnTo>
                    <a:pt x="5430139" y="1528699"/>
                  </a:lnTo>
                  <a:lnTo>
                    <a:pt x="5413248" y="15286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E8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84064" y="8668512"/>
            <a:ext cx="4059936" cy="548640"/>
            <a:chOff x="0" y="0"/>
            <a:chExt cx="5413248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541324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0.9557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84064" y="9217152"/>
            <a:ext cx="4059936" cy="475488"/>
            <a:chOff x="0" y="0"/>
            <a:chExt cx="5413248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41324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ROC-AUC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60487" y="8619239"/>
            <a:ext cx="4085339" cy="1159259"/>
            <a:chOff x="0" y="0"/>
            <a:chExt cx="5447119" cy="15456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54132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475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470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528699"/>
                  </a:lnTo>
                  <a:cubicBezTo>
                    <a:pt x="5447030" y="1538097"/>
                    <a:pt x="5439410" y="1545590"/>
                    <a:pt x="54301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430139" y="1511808"/>
                  </a:lnTo>
                  <a:lnTo>
                    <a:pt x="5430139" y="1528699"/>
                  </a:lnTo>
                  <a:lnTo>
                    <a:pt x="5413248" y="15286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7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73184" y="8668512"/>
            <a:ext cx="4059936" cy="548640"/>
            <a:chOff x="0" y="0"/>
            <a:chExt cx="5413248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541324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82.25%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73184" y="9217152"/>
            <a:ext cx="4059936" cy="475488"/>
            <a:chOff x="0" y="0"/>
            <a:chExt cx="5413248" cy="6339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41324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CVD Accuracy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849607" y="8619239"/>
            <a:ext cx="4085339" cy="1159259"/>
            <a:chOff x="0" y="0"/>
            <a:chExt cx="5447119" cy="154567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54132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D4303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470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528699"/>
                  </a:lnTo>
                  <a:cubicBezTo>
                    <a:pt x="5447030" y="1538097"/>
                    <a:pt x="5439410" y="1545590"/>
                    <a:pt x="54301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430139" y="1511808"/>
                  </a:lnTo>
                  <a:lnTo>
                    <a:pt x="5430139" y="1528699"/>
                  </a:lnTo>
                  <a:lnTo>
                    <a:pt x="5413248" y="15286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303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862304" y="8668512"/>
            <a:ext cx="4059936" cy="548640"/>
            <a:chOff x="0" y="0"/>
            <a:chExt cx="5413248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13248" cy="731520"/>
            </a:xfrm>
            <a:custGeom>
              <a:avLst/>
              <a:gdLst/>
              <a:ahLst/>
              <a:cxnLst/>
              <a:rect r="r" b="b" t="t" l="l"/>
              <a:pathLst>
                <a:path h="7315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5413248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0.9007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862304" y="9217152"/>
            <a:ext cx="4059936" cy="475488"/>
            <a:chOff x="0" y="0"/>
            <a:chExt cx="5413248" cy="6339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41324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CVD ROC-AUC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17220" y="9857232"/>
            <a:ext cx="16642080" cy="365760"/>
            <a:chOff x="0" y="0"/>
            <a:chExt cx="22189440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89439" cy="487680"/>
            </a:xfrm>
            <a:custGeom>
              <a:avLst/>
              <a:gdLst/>
              <a:ahLst/>
              <a:cxnLst/>
              <a:rect r="r" b="b" t="t" l="l"/>
              <a:pathLst>
                <a:path h="48768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6569" r="0" b="-83656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189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4A60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* Engineered features outperform raw inputs in feature importance ranking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484164" y="8648299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610001"/>
                </a:moveTo>
                <a:lnTo>
                  <a:pt x="1775136" y="610001"/>
                </a:lnTo>
                <a:lnTo>
                  <a:pt x="1775136" y="0"/>
                </a:lnTo>
                <a:lnTo>
                  <a:pt x="0" y="0"/>
                </a:lnTo>
                <a:lnTo>
                  <a:pt x="0" y="6100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4447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4164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718283" y="0"/>
                </a:lnTo>
                <a:lnTo>
                  <a:pt x="371828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6923" y="887978"/>
            <a:ext cx="16642080" cy="640080"/>
            <a:chOff x="0" y="0"/>
            <a:chExt cx="2218944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89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923" y="1473194"/>
            <a:ext cx="16642080" cy="841248"/>
            <a:chOff x="0" y="0"/>
            <a:chExt cx="22189440" cy="11216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1121664"/>
            </a:xfrm>
            <a:custGeom>
              <a:avLst/>
              <a:gdLst/>
              <a:ahLst/>
              <a:cxnLst/>
              <a:rect r="r" b="b" t="t" l="l"/>
              <a:pathLst>
                <a:path h="112166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464" r="0" b="-3354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18944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flow: data → trained model → live prediction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6923" y="2751734"/>
            <a:ext cx="17075011" cy="6201566"/>
          </a:xfrm>
          <a:custGeom>
            <a:avLst/>
            <a:gdLst/>
            <a:ahLst/>
            <a:cxnLst/>
            <a:rect r="r" b="b" t="t" l="l"/>
            <a:pathLst>
              <a:path h="6201566" w="17075011">
                <a:moveTo>
                  <a:pt x="0" y="0"/>
                </a:moveTo>
                <a:lnTo>
                  <a:pt x="17075011" y="0"/>
                </a:lnTo>
                <a:lnTo>
                  <a:pt x="17075011" y="6201565"/>
                </a:lnTo>
                <a:lnTo>
                  <a:pt x="0" y="62015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5544" r="0" b="-2554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14447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84164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718283" y="0"/>
                </a:lnTo>
                <a:lnTo>
                  <a:pt x="371828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66923" y="887978"/>
            <a:ext cx="16642080" cy="640080"/>
            <a:chOff x="0" y="0"/>
            <a:chExt cx="22189440" cy="85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89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USER–SYSTEM DATA FLOW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6923" y="1473194"/>
            <a:ext cx="16642080" cy="841248"/>
            <a:chOff x="0" y="0"/>
            <a:chExt cx="22189440" cy="11216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121664"/>
            </a:xfrm>
            <a:custGeom>
              <a:avLst/>
              <a:gdLst/>
              <a:ahLst/>
              <a:cxnLst/>
              <a:rect r="r" b="b" t="t" l="l"/>
              <a:pathLst>
                <a:path h="112166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464" r="0" b="-33546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18944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</a:t>
              </a:r>
              <a:r>
                <a:rPr lang="en-US" b="true" sz="40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er-wise structure of the proposed ML-based diagnostic system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701831" y="2506756"/>
            <a:ext cx="5769411" cy="3441992"/>
          </a:xfrm>
          <a:custGeom>
            <a:avLst/>
            <a:gdLst/>
            <a:ahLst/>
            <a:cxnLst/>
            <a:rect r="r" b="b" t="t" l="l"/>
            <a:pathLst>
              <a:path h="3441992" w="5769411">
                <a:moveTo>
                  <a:pt x="0" y="0"/>
                </a:moveTo>
                <a:lnTo>
                  <a:pt x="5769411" y="0"/>
                </a:lnTo>
                <a:lnTo>
                  <a:pt x="5769411" y="3441993"/>
                </a:lnTo>
                <a:lnTo>
                  <a:pt x="0" y="3441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92" t="-26944" r="-116287" b="-11760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14753" y="2506756"/>
            <a:ext cx="5769411" cy="3054486"/>
          </a:xfrm>
          <a:custGeom>
            <a:avLst/>
            <a:gdLst/>
            <a:ahLst/>
            <a:cxnLst/>
            <a:rect r="r" b="b" t="t" l="l"/>
            <a:pathLst>
              <a:path h="3054486" w="5769411">
                <a:moveTo>
                  <a:pt x="0" y="0"/>
                </a:moveTo>
                <a:lnTo>
                  <a:pt x="5769411" y="0"/>
                </a:lnTo>
                <a:lnTo>
                  <a:pt x="5769411" y="3054486"/>
                </a:lnTo>
                <a:lnTo>
                  <a:pt x="0" y="3054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1827" t="-27471" r="-2296" b="-11697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68285" y="5687065"/>
            <a:ext cx="6301992" cy="3032698"/>
          </a:xfrm>
          <a:custGeom>
            <a:avLst/>
            <a:gdLst/>
            <a:ahLst/>
            <a:cxnLst/>
            <a:rect r="r" b="b" t="t" l="l"/>
            <a:pathLst>
              <a:path h="3032698" w="6301992">
                <a:moveTo>
                  <a:pt x="0" y="0"/>
                </a:moveTo>
                <a:lnTo>
                  <a:pt x="6301992" y="0"/>
                </a:lnTo>
                <a:lnTo>
                  <a:pt x="6301992" y="3032698"/>
                </a:lnTo>
                <a:lnTo>
                  <a:pt x="0" y="3032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07" t="-159173" r="-115511" b="-4197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79174" y="5891763"/>
            <a:ext cx="6504990" cy="2828000"/>
          </a:xfrm>
          <a:custGeom>
            <a:avLst/>
            <a:gdLst/>
            <a:ahLst/>
            <a:cxnLst/>
            <a:rect r="r" b="b" t="t" l="l"/>
            <a:pathLst>
              <a:path h="2828000" w="6504990">
                <a:moveTo>
                  <a:pt x="0" y="0"/>
                </a:moveTo>
                <a:lnTo>
                  <a:pt x="6504990" y="0"/>
                </a:lnTo>
                <a:lnTo>
                  <a:pt x="6504990" y="2828000"/>
                </a:lnTo>
                <a:lnTo>
                  <a:pt x="0" y="282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2256" t="-156152" r="-1961" b="-4148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24783" y="8719763"/>
            <a:ext cx="12379940" cy="1182627"/>
          </a:xfrm>
          <a:custGeom>
            <a:avLst/>
            <a:gdLst/>
            <a:ahLst/>
            <a:cxnLst/>
            <a:rect r="r" b="b" t="t" l="l"/>
            <a:pathLst>
              <a:path h="1182627" w="12379940">
                <a:moveTo>
                  <a:pt x="0" y="0"/>
                </a:moveTo>
                <a:lnTo>
                  <a:pt x="12379940" y="0"/>
                </a:lnTo>
                <a:lnTo>
                  <a:pt x="12379940" y="1182627"/>
                </a:lnTo>
                <a:lnTo>
                  <a:pt x="0" y="1182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" t="-600921" r="-1030" b="-1082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914447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4114800"/>
                </a:moveTo>
                <a:lnTo>
                  <a:pt x="3718283" y="4114800"/>
                </a:lnTo>
                <a:lnTo>
                  <a:pt x="371828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484164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0"/>
                </a:moveTo>
                <a:lnTo>
                  <a:pt x="0" y="0"/>
                </a:lnTo>
                <a:lnTo>
                  <a:pt x="0" y="4114800"/>
                </a:lnTo>
                <a:lnTo>
                  <a:pt x="3718283" y="4114800"/>
                </a:lnTo>
                <a:lnTo>
                  <a:pt x="37182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22960" y="365760"/>
            <a:ext cx="16642080" cy="640080"/>
            <a:chOff x="0" y="0"/>
            <a:chExt cx="22189440" cy="85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89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TESTING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50976"/>
            <a:ext cx="16642080" cy="841248"/>
            <a:chOff x="0" y="0"/>
            <a:chExt cx="22189440" cy="11216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121664"/>
            </a:xfrm>
            <a:custGeom>
              <a:avLst/>
              <a:gdLst/>
              <a:ahLst/>
              <a:cxnLst/>
              <a:rect r="r" b="b" t="t" l="l"/>
              <a:pathLst>
                <a:path h="112166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464" r="0" b="-33546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18944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cases, accuracy metrics &amp; functional verification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4944" y="1920240"/>
            <a:ext cx="8595360" cy="548640"/>
            <a:chOff x="0" y="0"/>
            <a:chExt cx="114604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60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5265" r="0" b="-2552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460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Functional Test Cases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94944" y="2596896"/>
          <a:ext cx="8559800" cy="6400800"/>
        </p:xfrm>
        <a:graphic>
          <a:graphicData uri="http://schemas.openxmlformats.org/drawingml/2006/table">
            <a:tbl>
              <a:tblPr/>
              <a:tblGrid>
                <a:gridCol w="2904932"/>
                <a:gridCol w="2724936"/>
                <a:gridCol w="2148950"/>
                <a:gridCol w="780982"/>
              </a:tblGrid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Case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4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Input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4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4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Pass?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448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Low-risk diabetes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Glucose=85, BMI=22, Age=25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30%, 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High-risk diabetes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Glucose=200, BMI=40, Age=55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 60%, 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Zero imputation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Glucose=0 (missing value)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Replaced ~121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Invalid input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Age = -5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400 error JSON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Low-risk CVD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Age=35, chol=160, CP=0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30%, 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High-risk CVD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Age=70, exang=1, ca=3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 60%, 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PDF export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Click Export after prediction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A4 PDF saved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History persistence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 sequential predictions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Last 8 shown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C8D6E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7066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682247" y="9131303"/>
            <a:ext cx="8620763" cy="610619"/>
            <a:chOff x="0" y="0"/>
            <a:chExt cx="11494351" cy="8141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460481" cy="780288"/>
            </a:xfrm>
            <a:custGeom>
              <a:avLst/>
              <a:gdLst/>
              <a:ahLst/>
              <a:cxnLst/>
              <a:rect r="r" b="b" t="t" l="l"/>
              <a:pathLst>
                <a:path h="780288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82706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94262" cy="814072"/>
            </a:xfrm>
            <a:custGeom>
              <a:avLst/>
              <a:gdLst/>
              <a:ahLst/>
              <a:cxnLst/>
              <a:rect r="r" b="b" t="t" l="l"/>
              <a:pathLst>
                <a:path h="81407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797179"/>
                  </a:lnTo>
                  <a:cubicBezTo>
                    <a:pt x="11494262" y="806577"/>
                    <a:pt x="11486642" y="814070"/>
                    <a:pt x="11477372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477372" y="780288"/>
                  </a:lnTo>
                  <a:lnTo>
                    <a:pt x="11477372" y="797179"/>
                  </a:lnTo>
                  <a:lnTo>
                    <a:pt x="11460480" y="797179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5DFF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68096" y="9162293"/>
            <a:ext cx="8449056" cy="548640"/>
            <a:chOff x="0" y="0"/>
            <a:chExt cx="11265408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65408" cy="731520"/>
            </a:xfrm>
            <a:custGeom>
              <a:avLst/>
              <a:gdLst/>
              <a:ahLst/>
              <a:cxnLst/>
              <a:rect r="r" b="b" t="t" l="l"/>
              <a:pathLst>
                <a:path h="731520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265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Avg. inference latency: Diabetes &lt; 5 ms  ·  Heart &lt; 8 ms  ·  Full round-trip &lt; 50 ms (LAN)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9213" y="2468880"/>
            <a:ext cx="8156953" cy="4728316"/>
          </a:xfrm>
          <a:custGeom>
            <a:avLst/>
            <a:gdLst/>
            <a:ahLst/>
            <a:cxnLst/>
            <a:rect r="r" b="b" t="t" l="l"/>
            <a:pathLst>
              <a:path h="4728316" w="8156953">
                <a:moveTo>
                  <a:pt x="0" y="0"/>
                </a:moveTo>
                <a:lnTo>
                  <a:pt x="8156953" y="0"/>
                </a:lnTo>
                <a:lnTo>
                  <a:pt x="8156953" y="4728316"/>
                </a:lnTo>
                <a:lnTo>
                  <a:pt x="0" y="47283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222" t="-22625" r="-4371" b="-3337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73038" y="1920240"/>
            <a:ext cx="4565505" cy="548640"/>
            <a:chOff x="0" y="0"/>
            <a:chExt cx="6087341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87341" cy="731520"/>
            </a:xfrm>
            <a:custGeom>
              <a:avLst/>
              <a:gdLst/>
              <a:ahLst/>
              <a:cxnLst/>
              <a:rect r="r" b="b" t="t" l="l"/>
              <a:pathLst>
                <a:path h="731520" w="6087341">
                  <a:moveTo>
                    <a:pt x="0" y="0"/>
                  </a:moveTo>
                  <a:lnTo>
                    <a:pt x="6087341" y="0"/>
                  </a:lnTo>
                  <a:lnTo>
                    <a:pt x="608734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5265" r="-88267" b="-2552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087341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Testing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484164" y="8648299"/>
            <a:ext cx="1775136" cy="610001"/>
          </a:xfrm>
          <a:custGeom>
            <a:avLst/>
            <a:gdLst/>
            <a:ahLst/>
            <a:cxnLst/>
            <a:rect r="r" b="b" t="t" l="l"/>
            <a:pathLst>
              <a:path h="610001" w="1775136">
                <a:moveTo>
                  <a:pt x="0" y="610001"/>
                </a:moveTo>
                <a:lnTo>
                  <a:pt x="1775136" y="610001"/>
                </a:lnTo>
                <a:lnTo>
                  <a:pt x="1775136" y="0"/>
                </a:lnTo>
                <a:lnTo>
                  <a:pt x="0" y="0"/>
                </a:lnTo>
                <a:lnTo>
                  <a:pt x="0" y="6100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4447" y="86482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4164" y="-2476099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371828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718283" y="0"/>
                </a:lnTo>
                <a:lnTo>
                  <a:pt x="371828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2697" y="-12697"/>
            <a:ext cx="153419" cy="10312403"/>
            <a:chOff x="0" y="0"/>
            <a:chExt cx="20455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706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695B5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4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3732890"/>
                  </a:lnTo>
                  <a:cubicBezTo>
                    <a:pt x="204470" y="13742290"/>
                    <a:pt x="196850" y="13749782"/>
                    <a:pt x="1875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87579" y="13716000"/>
                  </a:lnTo>
                  <a:lnTo>
                    <a:pt x="187579" y="13732890"/>
                  </a:lnTo>
                  <a:lnTo>
                    <a:pt x="170688" y="13732890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95B5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280160"/>
            <a:ext cx="16459200" cy="2743200"/>
            <a:chOff x="0" y="0"/>
            <a:chExt cx="2194560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38125"/>
              <a:ext cx="21945600" cy="3895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19"/>
                </a:lnSpc>
              </a:pPr>
              <a:r>
                <a:rPr lang="en-US" b="true" sz="11600">
                  <a:solidFill>
                    <a:srgbClr val="463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840480"/>
            <a:ext cx="16459200" cy="914400"/>
            <a:chOff x="0" y="0"/>
            <a:chExt cx="219456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94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463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88103" y="4961639"/>
            <a:ext cx="5511803" cy="98555"/>
            <a:chOff x="0" y="0"/>
            <a:chExt cx="7349071" cy="1314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97536"/>
            </a:xfrm>
            <a:custGeom>
              <a:avLst/>
              <a:gdLst/>
              <a:ahLst/>
              <a:cxnLst/>
              <a:rect r="r" b="b" t="t" l="l"/>
              <a:pathLst>
                <a:path h="975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31320"/>
            </a:xfrm>
            <a:custGeom>
              <a:avLst/>
              <a:gdLst/>
              <a:ahLst/>
              <a:cxnLst/>
              <a:rect r="r" b="b" t="t" l="l"/>
              <a:pathLst>
                <a:path h="13132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4427"/>
                  </a:lnTo>
                  <a:cubicBezTo>
                    <a:pt x="7348982" y="123825"/>
                    <a:pt x="7341362" y="131318"/>
                    <a:pt x="73320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332091" y="97536"/>
                  </a:lnTo>
                  <a:lnTo>
                    <a:pt x="7332091" y="114427"/>
                  </a:lnTo>
                  <a:lnTo>
                    <a:pt x="7315200" y="11442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50343" y="5290823"/>
            <a:ext cx="4597403" cy="2000507"/>
            <a:chOff x="0" y="0"/>
            <a:chExt cx="6129871" cy="26673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60960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695B5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29782" cy="2667254"/>
            </a:xfrm>
            <a:custGeom>
              <a:avLst/>
              <a:gdLst/>
              <a:ahLst/>
              <a:cxnLst/>
              <a:rect r="r" b="b" t="t" l="l"/>
              <a:pathLst>
                <a:path h="2667254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2650363"/>
                  </a:lnTo>
                  <a:cubicBezTo>
                    <a:pt x="6129782" y="2659761"/>
                    <a:pt x="6122162" y="2667254"/>
                    <a:pt x="611289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6112891" y="2633472"/>
                  </a:lnTo>
                  <a:lnTo>
                    <a:pt x="6112891" y="2650363"/>
                  </a:lnTo>
                  <a:lnTo>
                    <a:pt x="6096000" y="2650363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50343" y="5290823"/>
            <a:ext cx="4597403" cy="107699"/>
            <a:chOff x="0" y="0"/>
            <a:chExt cx="6129871" cy="1435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096000" cy="109728"/>
            </a:xfrm>
            <a:custGeom>
              <a:avLst/>
              <a:gdLst/>
              <a:ahLst/>
              <a:cxnLst/>
              <a:rect r="r" b="b" t="t" l="l"/>
              <a:pathLst>
                <a:path h="1097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29782" cy="143512"/>
            </a:xfrm>
            <a:custGeom>
              <a:avLst/>
              <a:gdLst/>
              <a:ahLst/>
              <a:cxnLst/>
              <a:rect r="r" b="b" t="t" l="l"/>
              <a:pathLst>
                <a:path h="14351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26619"/>
                  </a:lnTo>
                  <a:cubicBezTo>
                    <a:pt x="6129782" y="136017"/>
                    <a:pt x="6122162" y="143510"/>
                    <a:pt x="6112891" y="143510"/>
                  </a:cubicBezTo>
                  <a:lnTo>
                    <a:pt x="16891" y="143510"/>
                  </a:lnTo>
                  <a:cubicBezTo>
                    <a:pt x="7620" y="143637"/>
                    <a:pt x="0" y="136017"/>
                    <a:pt x="0" y="126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16891" y="109728"/>
                  </a:lnTo>
                  <a:lnTo>
                    <a:pt x="6112891" y="109728"/>
                  </a:lnTo>
                  <a:lnTo>
                    <a:pt x="6112891" y="126619"/>
                  </a:lnTo>
                  <a:lnTo>
                    <a:pt x="6096000" y="126619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63040" y="5413248"/>
            <a:ext cx="4572000" cy="621792"/>
            <a:chOff x="0" y="0"/>
            <a:chExt cx="6096000" cy="8290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0960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Ravada Siddharth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3040" y="6035040"/>
            <a:ext cx="4572000" cy="1005840"/>
            <a:chOff x="0" y="0"/>
            <a:chExt cx="609600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2"/>
                </a:lnSpc>
              </a:pPr>
              <a:r>
                <a:rPr lang="en-US" sz="17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Integration &amp;</a:t>
              </a:r>
            </a:p>
            <a:p>
              <a:pPr algn="ctr">
                <a:lnSpc>
                  <a:spcPts val="2652"/>
                </a:lnSpc>
              </a:pPr>
              <a:r>
                <a:rPr lang="en-US" sz="17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Pre-Processing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62423" y="5290823"/>
            <a:ext cx="4597403" cy="2000507"/>
            <a:chOff x="0" y="0"/>
            <a:chExt cx="6129871" cy="26673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0960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695B5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29782" cy="2667254"/>
            </a:xfrm>
            <a:custGeom>
              <a:avLst/>
              <a:gdLst/>
              <a:ahLst/>
              <a:cxnLst/>
              <a:rect r="r" b="b" t="t" l="l"/>
              <a:pathLst>
                <a:path h="2667254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2650363"/>
                  </a:lnTo>
                  <a:cubicBezTo>
                    <a:pt x="6129782" y="2659761"/>
                    <a:pt x="6122162" y="2667254"/>
                    <a:pt x="611289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6112891" y="2633472"/>
                  </a:lnTo>
                  <a:lnTo>
                    <a:pt x="6112891" y="2650363"/>
                  </a:lnTo>
                  <a:lnTo>
                    <a:pt x="6096000" y="2650363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62423" y="5290823"/>
            <a:ext cx="4597403" cy="107699"/>
            <a:chOff x="0" y="0"/>
            <a:chExt cx="6129871" cy="1435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6096000" cy="109728"/>
            </a:xfrm>
            <a:custGeom>
              <a:avLst/>
              <a:gdLst/>
              <a:ahLst/>
              <a:cxnLst/>
              <a:rect r="r" b="b" t="t" l="l"/>
              <a:pathLst>
                <a:path h="1097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29782" cy="143512"/>
            </a:xfrm>
            <a:custGeom>
              <a:avLst/>
              <a:gdLst/>
              <a:ahLst/>
              <a:cxnLst/>
              <a:rect r="r" b="b" t="t" l="l"/>
              <a:pathLst>
                <a:path h="14351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26619"/>
                  </a:lnTo>
                  <a:cubicBezTo>
                    <a:pt x="6129782" y="136017"/>
                    <a:pt x="6122162" y="143510"/>
                    <a:pt x="6112891" y="143510"/>
                  </a:cubicBezTo>
                  <a:lnTo>
                    <a:pt x="16891" y="143510"/>
                  </a:lnTo>
                  <a:cubicBezTo>
                    <a:pt x="7620" y="143637"/>
                    <a:pt x="0" y="136017"/>
                    <a:pt x="0" y="126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16891" y="109728"/>
                  </a:lnTo>
                  <a:lnTo>
                    <a:pt x="6112891" y="109728"/>
                  </a:lnTo>
                  <a:lnTo>
                    <a:pt x="6112891" y="126619"/>
                  </a:lnTo>
                  <a:lnTo>
                    <a:pt x="6096000" y="126619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75120" y="5413248"/>
            <a:ext cx="4572000" cy="621792"/>
            <a:chOff x="0" y="0"/>
            <a:chExt cx="6096000" cy="8290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0960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Arpit Kumar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75120" y="6035040"/>
            <a:ext cx="4572000" cy="1005840"/>
            <a:chOff x="0" y="0"/>
            <a:chExt cx="609600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2"/>
                </a:lnSpc>
              </a:pPr>
              <a:r>
                <a:rPr lang="en-US" sz="17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Engineer</a:t>
              </a:r>
            </a:p>
            <a:p>
              <a:pPr algn="ctr">
                <a:lnSpc>
                  <a:spcPts val="2652"/>
                </a:lnSpc>
              </a:pPr>
              <a:r>
                <a:rPr lang="en-US" sz="17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Data Analyst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74503" y="5290823"/>
            <a:ext cx="4597403" cy="2000507"/>
            <a:chOff x="0" y="0"/>
            <a:chExt cx="6129871" cy="266734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60960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695B51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29782" cy="2667254"/>
            </a:xfrm>
            <a:custGeom>
              <a:avLst/>
              <a:gdLst/>
              <a:ahLst/>
              <a:cxnLst/>
              <a:rect r="r" b="b" t="t" l="l"/>
              <a:pathLst>
                <a:path h="2667254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2650363"/>
                  </a:lnTo>
                  <a:cubicBezTo>
                    <a:pt x="6129782" y="2659761"/>
                    <a:pt x="6122162" y="2667254"/>
                    <a:pt x="611289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6112891" y="2633472"/>
                  </a:lnTo>
                  <a:lnTo>
                    <a:pt x="6112891" y="2650363"/>
                  </a:lnTo>
                  <a:lnTo>
                    <a:pt x="6096000" y="2650363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74503" y="5290823"/>
            <a:ext cx="4597403" cy="107699"/>
            <a:chOff x="0" y="0"/>
            <a:chExt cx="6129871" cy="1435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096000" cy="109728"/>
            </a:xfrm>
            <a:custGeom>
              <a:avLst/>
              <a:gdLst/>
              <a:ahLst/>
              <a:cxnLst/>
              <a:rect r="r" b="b" t="t" l="l"/>
              <a:pathLst>
                <a:path h="1097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29782" cy="143512"/>
            </a:xfrm>
            <a:custGeom>
              <a:avLst/>
              <a:gdLst/>
              <a:ahLst/>
              <a:cxnLst/>
              <a:rect r="r" b="b" t="t" l="l"/>
              <a:pathLst>
                <a:path h="14351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26619"/>
                  </a:lnTo>
                  <a:cubicBezTo>
                    <a:pt x="6129782" y="136017"/>
                    <a:pt x="6122162" y="143510"/>
                    <a:pt x="6112891" y="143510"/>
                  </a:cubicBezTo>
                  <a:lnTo>
                    <a:pt x="16891" y="143510"/>
                  </a:lnTo>
                  <a:cubicBezTo>
                    <a:pt x="7620" y="143637"/>
                    <a:pt x="0" y="136017"/>
                    <a:pt x="0" y="126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16891" y="109728"/>
                  </a:lnTo>
                  <a:lnTo>
                    <a:pt x="6112891" y="109728"/>
                  </a:lnTo>
                  <a:lnTo>
                    <a:pt x="6112891" y="126619"/>
                  </a:lnTo>
                  <a:lnTo>
                    <a:pt x="6096000" y="126619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5413248"/>
            <a:ext cx="4572000" cy="621792"/>
            <a:chOff x="0" y="0"/>
            <a:chExt cx="609600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0960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Kanak Sharma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887200" y="6035040"/>
            <a:ext cx="4572000" cy="1005840"/>
            <a:chOff x="0" y="0"/>
            <a:chExt cx="609600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2"/>
                </a:lnSpc>
              </a:pPr>
              <a:r>
                <a:rPr lang="en-US" sz="17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dev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" y="7498080"/>
            <a:ext cx="14996160" cy="1609344"/>
            <a:chOff x="0" y="0"/>
            <a:chExt cx="19994880" cy="2145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994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39332F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23825"/>
              <a:ext cx="19994880" cy="2269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92"/>
                </a:lnSpc>
              </a:pPr>
              <a:r>
                <a:rPr lang="en-US" sz="1900">
                  <a:solidFill>
                    <a:srgbClr val="463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 90.25% diabetes accuracy  ·  AUC 0.9557</a:t>
              </a:r>
            </a:p>
            <a:p>
              <a:pPr algn="ctr">
                <a:lnSpc>
                  <a:spcPts val="3192"/>
                </a:lnSpc>
              </a:pPr>
              <a:r>
                <a:rPr lang="en-US" sz="1900">
                  <a:solidFill>
                    <a:srgbClr val="463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 82.25% CVD accuracy  ·  AUC 0.9007</a:t>
              </a:r>
            </a:p>
            <a:p>
              <a:pPr algn="ctr">
                <a:lnSpc>
                  <a:spcPts val="3192"/>
                </a:lnSpc>
              </a:pPr>
              <a:r>
                <a:rPr lang="en-US" sz="1900">
                  <a:solidFill>
                    <a:srgbClr val="463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 Full-stack Django web app — AJAX, SQLite, Chart.js, jsPDF</a:t>
              </a:r>
            </a:p>
            <a:p>
              <a:pPr algn="ctr">
                <a:lnSpc>
                  <a:spcPts val="3192"/>
                </a:lnSpc>
              </a:pPr>
              <a:r>
                <a:rPr lang="en-US" sz="1900">
                  <a:solidFill>
                    <a:srgbClr val="463F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✦  SMOTE-balanced 2,000-sample datasets per model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" y="9418320"/>
            <a:ext cx="16459200" cy="548640"/>
            <a:chOff x="0" y="0"/>
            <a:chExt cx="219456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FA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github.com/Sidvortex/DPS  ·  B.Tech CSE-DS, MUIT Noida  ·  Batch 2023–27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DAHKNwGIxs8</dc:identifier>
  <dcterms:modified xsi:type="dcterms:W3CDTF">2011-08-01T06:04:30Z</dcterms:modified>
  <cp:revision>1</cp:revision>
  <dc:title>DPS</dc:title>
</cp:coreProperties>
</file>